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59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9824"/>
            <a:ext cx="2357438" cy="5143500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2"/>
          <p:cNvSpPr/>
          <p:nvPr/>
        </p:nvSpPr>
        <p:spPr>
          <a:xfrm rot="10800000">
            <a:off x="1178686" y="3235010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s-ES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428625" y="4643438"/>
            <a:ext cx="150018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Máster en IA
Robótica Inteligente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531757" y="2313750"/>
            <a:ext cx="1712002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400" b="1" kern="0" spc="2" noProof="0" dirty="0">
                <a:solidFill>
                  <a:schemeClr val="bg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TRABAJO FINAL DE ROBÓTICA</a:t>
            </a:r>
            <a:endParaRPr lang="es-ES" sz="1400" noProof="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943226" y="508606"/>
            <a:ext cx="554355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s-ES" sz="3100" b="1" kern="0" spc="-2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Inspección Autónoma de Torres Eólicas</a:t>
            </a:r>
            <a:endParaRPr lang="es-ES" sz="3100" noProof="0" dirty="0"/>
          </a:p>
        </p:txBody>
      </p:sp>
      <p:sp>
        <p:nvSpPr>
          <p:cNvPr id="9" name="Text 6"/>
          <p:cNvSpPr/>
          <p:nvPr/>
        </p:nvSpPr>
        <p:spPr>
          <a:xfrm>
            <a:off x="2982515" y="1920750"/>
            <a:ext cx="5543550" cy="52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Husky A200 + UR5e + Nav2 + </a:t>
            </a:r>
            <a:r>
              <a:rPr lang="es-ES" sz="145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MoveIt</a:t>
            </a: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2 + visión Hough/YOLO + </a:t>
            </a:r>
            <a:r>
              <a:rPr lang="es-ES" sz="145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Behaviour</a:t>
            </a: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Tree + voz</a:t>
            </a:r>
            <a:endParaRPr lang="es-ES" sz="1450" noProof="0" dirty="0"/>
          </a:p>
        </p:txBody>
      </p:sp>
      <p:sp>
        <p:nvSpPr>
          <p:cNvPr id="14" name="Text 11"/>
          <p:cNvSpPr/>
          <p:nvPr/>
        </p:nvSpPr>
        <p:spPr>
          <a:xfrm>
            <a:off x="2982580" y="4006000"/>
            <a:ext cx="403957" cy="14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s-ES" sz="8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Equipo</a:t>
            </a:r>
            <a:endParaRPr lang="es-ES" sz="850" noProof="0" dirty="0"/>
          </a:p>
        </p:txBody>
      </p:sp>
      <p:sp>
        <p:nvSpPr>
          <p:cNvPr id="15" name="Text 12"/>
          <p:cNvSpPr/>
          <p:nvPr/>
        </p:nvSpPr>
        <p:spPr>
          <a:xfrm>
            <a:off x="2982580" y="4223884"/>
            <a:ext cx="775886" cy="58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 Moreda</a:t>
            </a:r>
          </a:p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</a:rPr>
              <a:t>Daniel Ariza</a:t>
            </a:r>
          </a:p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</a:rPr>
              <a:t>Javier Cerón</a:t>
            </a:r>
            <a:endParaRPr lang="es-ES" sz="800" noProof="0" dirty="0"/>
          </a:p>
          <a:p>
            <a:pPr marL="0" indent="0" algn="l">
              <a:lnSpc>
                <a:spcPct val="120000"/>
              </a:lnSpc>
              <a:buNone/>
            </a:pPr>
            <a:endParaRPr lang="es-ES" sz="800" noProof="0" dirty="0"/>
          </a:p>
        </p:txBody>
      </p:sp>
      <p:sp>
        <p:nvSpPr>
          <p:cNvPr id="16" name="Text 13"/>
          <p:cNvSpPr/>
          <p:nvPr/>
        </p:nvSpPr>
        <p:spPr>
          <a:xfrm>
            <a:off x="2982515" y="4006000"/>
            <a:ext cx="65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s-ES" sz="800" noProof="0" dirty="0"/>
          </a:p>
        </p:txBody>
      </p:sp>
      <p:sp>
        <p:nvSpPr>
          <p:cNvPr id="17" name="Text 14"/>
          <p:cNvSpPr/>
          <p:nvPr/>
        </p:nvSpPr>
        <p:spPr>
          <a:xfrm>
            <a:off x="5482893" y="4006000"/>
            <a:ext cx="30432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8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850" noProof="0" dirty="0"/>
          </a:p>
        </p:txBody>
      </p:sp>
      <p:sp>
        <p:nvSpPr>
          <p:cNvPr id="18" name="Text 15"/>
          <p:cNvSpPr/>
          <p:nvPr/>
        </p:nvSpPr>
        <p:spPr>
          <a:xfrm>
            <a:off x="5482893" y="4223884"/>
            <a:ext cx="30432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8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/ROS2_Wind_Tower_Inspection</a:t>
            </a:r>
            <a:endParaRPr lang="es-ES" sz="800" noProof="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A60E91E-A3C2-9F4C-CDC8-ECA5FB8AF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625" y="325756"/>
            <a:ext cx="2269384" cy="1110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85763"/>
            <a:ext cx="8086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CONTEXTO Y OBJETIVO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28638" y="728663"/>
            <a:ext cx="8086725" cy="549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9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inspección se traslada del trabajo manual a una misión autónoma interior</a:t>
            </a:r>
            <a:endParaRPr lang="es-ES" sz="19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919" y="1776506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7688" y="1669349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Problema operativo</a:t>
            </a:r>
            <a:endParaRPr lang="es-ES" sz="1050" noProof="0" dirty="0"/>
          </a:p>
        </p:txBody>
      </p:sp>
      <p:sp>
        <p:nvSpPr>
          <p:cNvPr id="9" name="Text 5"/>
          <p:cNvSpPr/>
          <p:nvPr/>
        </p:nvSpPr>
        <p:spPr>
          <a:xfrm>
            <a:off x="4357688" y="1908665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mástil de la torre es un tubo de acero de unos 30 m que hoy inspecciona una persona a mano, recorriéndolo en busca de daños (grietas, corrosión, soldaduras): un trabajo lento, caro y arriesgado.</a:t>
            </a:r>
            <a:endParaRPr lang="es-ES" sz="85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488" y="2570131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57688" y="2462975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Propuesta técnica</a:t>
            </a:r>
            <a:endParaRPr lang="es-ES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4357688" y="2702291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Husky A200 con brazo UR5e entra en el tubo de 30 m, se posiciona de forma autónoma y aproxima la cámara a la pared interior en lugar del operario.</a:t>
            </a:r>
            <a:endParaRPr lang="es-ES" sz="85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203" y="3363757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57688" y="3256601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Demostración integrada</a:t>
            </a:r>
            <a:endParaRPr lang="es-ES" sz="1050" noProof="0" dirty="0"/>
          </a:p>
        </p:txBody>
      </p:sp>
      <p:sp>
        <p:nvSpPr>
          <p:cNvPr id="15" name="Text 9"/>
          <p:cNvSpPr/>
          <p:nvPr/>
        </p:nvSpPr>
        <p:spPr>
          <a:xfrm>
            <a:off x="4357688" y="3495917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misión combina navegación, manipulación, percepción, comportamiento, voz e informe final dentro de Gazebo Sim 8.</a:t>
            </a:r>
            <a:endParaRPr lang="es-ES" sz="850" noProof="0" dirty="0"/>
          </a:p>
        </p:txBody>
      </p:sp>
      <p:sp>
        <p:nvSpPr>
          <p:cNvPr id="16" name="Shape 10"/>
          <p:cNvSpPr/>
          <p:nvPr/>
        </p:nvSpPr>
        <p:spPr>
          <a:xfrm>
            <a:off x="528638" y="4343400"/>
            <a:ext cx="8086725" cy="8001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1"/>
          <p:cNvSpPr/>
          <p:nvPr/>
        </p:nvSpPr>
        <p:spPr>
          <a:xfrm>
            <a:off x="528638" y="4343400"/>
            <a:ext cx="808672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2"/>
          <p:cNvSpPr/>
          <p:nvPr/>
        </p:nvSpPr>
        <p:spPr>
          <a:xfrm>
            <a:off x="757238" y="4669334"/>
            <a:ext cx="12144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</a:t>
            </a:r>
            <a:endParaRPr lang="es-ES" sz="850" noProof="0" dirty="0"/>
          </a:p>
        </p:txBody>
      </p:sp>
      <p:sp>
        <p:nvSpPr>
          <p:cNvPr id="19" name="Text 13"/>
          <p:cNvSpPr/>
          <p:nvPr/>
        </p:nvSpPr>
        <p:spPr>
          <a:xfrm>
            <a:off x="1971675" y="4546662"/>
            <a:ext cx="6400800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10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 esa persona ya no haga falta: un sistema autónomo inspecciona el tubo desde dentro y entrega un informe útil para el técnico.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65293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ARQUITECTURA GENERAL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529388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Seis paquetes ROS 2 separan simulación, actuación, percepción y decisión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286625" y="485775"/>
            <a:ext cx="1357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286625" y="680442"/>
            <a:ext cx="12126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6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286625" y="815085"/>
            <a:ext cx="14198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ROS2_Wind_Tower_Inspection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500063" y="1692734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1414463" y="1603102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Simulación</a:t>
            </a:r>
            <a:endParaRPr lang="es-ES" sz="950" noProof="0" dirty="0"/>
          </a:p>
        </p:txBody>
      </p:sp>
      <p:sp>
        <p:nvSpPr>
          <p:cNvPr id="10" name="Text 7"/>
          <p:cNvSpPr/>
          <p:nvPr/>
        </p:nvSpPr>
        <p:spPr>
          <a:xfrm>
            <a:off x="1414463" y="1804913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Gazebo, modelos SDF, URDF y escenas industriales.</a:t>
            </a:r>
            <a:endParaRPr lang="es-ES" sz="750" noProof="0" dirty="0"/>
          </a:p>
        </p:txBody>
      </p:sp>
      <p:sp>
        <p:nvSpPr>
          <p:cNvPr id="11" name="Text 8"/>
          <p:cNvSpPr/>
          <p:nvPr/>
        </p:nvSpPr>
        <p:spPr>
          <a:xfrm>
            <a:off x="500063" y="2458901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800" noProof="0" dirty="0"/>
          </a:p>
        </p:txBody>
      </p:sp>
      <p:sp>
        <p:nvSpPr>
          <p:cNvPr id="12" name="Text 9"/>
          <p:cNvSpPr/>
          <p:nvPr/>
        </p:nvSpPr>
        <p:spPr>
          <a:xfrm>
            <a:off x="1414463" y="2369269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Estimación</a:t>
            </a:r>
            <a:endParaRPr lang="es-ES" sz="950" noProof="0" dirty="0"/>
          </a:p>
        </p:txBody>
      </p:sp>
      <p:sp>
        <p:nvSpPr>
          <p:cNvPr id="13" name="Text 10"/>
          <p:cNvSpPr/>
          <p:nvPr/>
        </p:nvSpPr>
        <p:spPr>
          <a:xfrm>
            <a:off x="1414463" y="2571080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EKF, AMCL, SLAM y transformaciones del robot.</a:t>
            </a:r>
            <a:endParaRPr lang="es-ES" sz="750" noProof="0" dirty="0"/>
          </a:p>
        </p:txBody>
      </p:sp>
      <p:sp>
        <p:nvSpPr>
          <p:cNvPr id="14" name="Text 11"/>
          <p:cNvSpPr/>
          <p:nvPr/>
        </p:nvSpPr>
        <p:spPr>
          <a:xfrm>
            <a:off x="500063" y="3225068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800" noProof="0" dirty="0"/>
          </a:p>
        </p:txBody>
      </p:sp>
      <p:sp>
        <p:nvSpPr>
          <p:cNvPr id="15" name="Text 12"/>
          <p:cNvSpPr/>
          <p:nvPr/>
        </p:nvSpPr>
        <p:spPr>
          <a:xfrm>
            <a:off x="1414463" y="3135437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Actuación</a:t>
            </a:r>
            <a:endParaRPr lang="es-ES" sz="950" noProof="0" dirty="0"/>
          </a:p>
        </p:txBody>
      </p:sp>
      <p:sp>
        <p:nvSpPr>
          <p:cNvPr id="16" name="Text 13"/>
          <p:cNvSpPr/>
          <p:nvPr/>
        </p:nvSpPr>
        <p:spPr>
          <a:xfrm>
            <a:off x="1414463" y="3337247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Nav2 para base móvil y 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para UR5e.</a:t>
            </a:r>
            <a:endParaRPr lang="es-ES" sz="750" noProof="0" dirty="0"/>
          </a:p>
        </p:txBody>
      </p:sp>
      <p:sp>
        <p:nvSpPr>
          <p:cNvPr id="17" name="Text 14"/>
          <p:cNvSpPr/>
          <p:nvPr/>
        </p:nvSpPr>
        <p:spPr>
          <a:xfrm>
            <a:off x="500063" y="3991235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800" noProof="0" dirty="0"/>
          </a:p>
        </p:txBody>
      </p:sp>
      <p:sp>
        <p:nvSpPr>
          <p:cNvPr id="18" name="Text 15"/>
          <p:cNvSpPr/>
          <p:nvPr/>
        </p:nvSpPr>
        <p:spPr>
          <a:xfrm>
            <a:off x="1414463" y="3901604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Lógica</a:t>
            </a:r>
            <a:endParaRPr lang="es-ES" sz="950" noProof="0" dirty="0"/>
          </a:p>
        </p:txBody>
      </p:sp>
      <p:sp>
        <p:nvSpPr>
          <p:cNvPr id="19" name="Text 16"/>
          <p:cNvSpPr/>
          <p:nvPr/>
        </p:nvSpPr>
        <p:spPr>
          <a:xfrm>
            <a:off x="1414463" y="4103415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Behaviour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Tree, voz, percepción e informe final.</a:t>
            </a:r>
            <a:endParaRPr lang="es-ES" sz="750" noProof="0" dirty="0"/>
          </a:p>
        </p:txBody>
      </p:sp>
      <p:sp>
        <p:nvSpPr>
          <p:cNvPr id="20" name="Shape 17"/>
          <p:cNvSpPr/>
          <p:nvPr/>
        </p:nvSpPr>
        <p:spPr>
          <a:xfrm>
            <a:off x="3543300" y="1462348"/>
            <a:ext cx="2493169" cy="947719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8"/>
          <p:cNvSpPr/>
          <p:nvPr/>
        </p:nvSpPr>
        <p:spPr>
          <a:xfrm>
            <a:off x="3700463" y="1619510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wind_tower_bringup</a:t>
            </a:r>
            <a:endParaRPr lang="es-ES" sz="850" noProof="0" dirty="0"/>
          </a:p>
        </p:txBody>
      </p:sp>
      <p:sp>
        <p:nvSpPr>
          <p:cNvPr id="22" name="Text 19"/>
          <p:cNvSpPr/>
          <p:nvPr/>
        </p:nvSpPr>
        <p:spPr>
          <a:xfrm>
            <a:off x="3700463" y="1839181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configuración de Nav2, SLAM, EKF, AMCL y nodos de integración.</a:t>
            </a:r>
            <a:endParaRPr lang="es-ES" sz="700" noProof="0" dirty="0"/>
          </a:p>
        </p:txBody>
      </p:sp>
      <p:sp>
        <p:nvSpPr>
          <p:cNvPr id="23" name="Shape 20"/>
          <p:cNvSpPr/>
          <p:nvPr/>
        </p:nvSpPr>
        <p:spPr>
          <a:xfrm>
            <a:off x="6150769" y="1462348"/>
            <a:ext cx="2493169" cy="947719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1"/>
          <p:cNvSpPr/>
          <p:nvPr/>
        </p:nvSpPr>
        <p:spPr>
          <a:xfrm>
            <a:off x="6307931" y="1619510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wind_tower_description</a:t>
            </a:r>
            <a:endParaRPr lang="es-ES" sz="850" noProof="0" dirty="0"/>
          </a:p>
        </p:txBody>
      </p:sp>
      <p:sp>
        <p:nvSpPr>
          <p:cNvPr id="25" name="Text 22"/>
          <p:cNvSpPr/>
          <p:nvPr/>
        </p:nvSpPr>
        <p:spPr>
          <a:xfrm>
            <a:off x="6307931" y="1839181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URDF del robot, tramo de torre y cámara de inspección.</a:t>
            </a:r>
            <a:endParaRPr lang="es-ES" sz="700" noProof="0" dirty="0"/>
          </a:p>
        </p:txBody>
      </p:sp>
      <p:sp>
        <p:nvSpPr>
          <p:cNvPr id="26" name="Shape 23"/>
          <p:cNvSpPr/>
          <p:nvPr/>
        </p:nvSpPr>
        <p:spPr>
          <a:xfrm>
            <a:off x="3543300" y="2524367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7" name="Text 24"/>
          <p:cNvSpPr/>
          <p:nvPr/>
        </p:nvSpPr>
        <p:spPr>
          <a:xfrm>
            <a:off x="3700463" y="2681529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wind_tower_simulation</a:t>
            </a:r>
            <a:endParaRPr lang="es-ES" sz="850" noProof="0" dirty="0"/>
          </a:p>
        </p:txBody>
      </p:sp>
      <p:sp>
        <p:nvSpPr>
          <p:cNvPr id="28" name="Text 25"/>
          <p:cNvSpPr/>
          <p:nvPr/>
        </p:nvSpPr>
        <p:spPr>
          <a:xfrm>
            <a:off x="3700463" y="2901200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Mundos SDF, modelos 3D, defectos y actores animados.</a:t>
            </a:r>
            <a:endParaRPr lang="es-ES" sz="700" noProof="0" dirty="0"/>
          </a:p>
        </p:txBody>
      </p:sp>
      <p:sp>
        <p:nvSpPr>
          <p:cNvPr id="29" name="Shape 26"/>
          <p:cNvSpPr/>
          <p:nvPr/>
        </p:nvSpPr>
        <p:spPr>
          <a:xfrm>
            <a:off x="6150769" y="2524367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7"/>
          <p:cNvSpPr/>
          <p:nvPr/>
        </p:nvSpPr>
        <p:spPr>
          <a:xfrm>
            <a:off x="6307931" y="2681529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wind_tower_arm_control</a:t>
            </a:r>
            <a:endParaRPr lang="es-ES" sz="850" noProof="0" dirty="0"/>
          </a:p>
        </p:txBody>
      </p:sp>
      <p:sp>
        <p:nvSpPr>
          <p:cNvPr id="31" name="Text 28"/>
          <p:cNvSpPr/>
          <p:nvPr/>
        </p:nvSpPr>
        <p:spPr>
          <a:xfrm>
            <a:off x="6307931" y="2901200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del UR5e con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2,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waypoints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trayectorias.</a:t>
            </a:r>
            <a:endParaRPr lang="es-ES" sz="700" noProof="0" dirty="0"/>
          </a:p>
        </p:txBody>
      </p:sp>
      <p:sp>
        <p:nvSpPr>
          <p:cNvPr id="32" name="Shape 29"/>
          <p:cNvSpPr/>
          <p:nvPr/>
        </p:nvSpPr>
        <p:spPr>
          <a:xfrm>
            <a:off x="3543300" y="3586414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3" name="Text 30"/>
          <p:cNvSpPr/>
          <p:nvPr/>
        </p:nvSpPr>
        <p:spPr>
          <a:xfrm>
            <a:off x="3700463" y="3743576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wind_tower_perception</a:t>
            </a:r>
            <a:endParaRPr lang="es-ES" sz="850" noProof="0" dirty="0"/>
          </a:p>
        </p:txBody>
      </p:sp>
      <p:sp>
        <p:nvSpPr>
          <p:cNvPr id="34" name="Text 31"/>
          <p:cNvSpPr/>
          <p:nvPr/>
        </p:nvSpPr>
        <p:spPr>
          <a:xfrm>
            <a:off x="3700463" y="3963246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Detección de defectos, captura de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proyección cilíndrica.</a:t>
            </a:r>
            <a:endParaRPr lang="es-ES" sz="700" noProof="0" dirty="0"/>
          </a:p>
        </p:txBody>
      </p:sp>
      <p:sp>
        <p:nvSpPr>
          <p:cNvPr id="35" name="Shape 32"/>
          <p:cNvSpPr/>
          <p:nvPr/>
        </p:nvSpPr>
        <p:spPr>
          <a:xfrm>
            <a:off x="6150769" y="3586414"/>
            <a:ext cx="2493169" cy="947747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6" name="Text 33"/>
          <p:cNvSpPr/>
          <p:nvPr/>
        </p:nvSpPr>
        <p:spPr>
          <a:xfrm>
            <a:off x="6307931" y="3743576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wind_tower_inspection_behaviour</a:t>
            </a:r>
            <a:endParaRPr lang="es-ES" sz="850" noProof="0" dirty="0"/>
          </a:p>
        </p:txBody>
      </p:sp>
      <p:sp>
        <p:nvSpPr>
          <p:cNvPr id="37" name="Text 34"/>
          <p:cNvSpPr/>
          <p:nvPr/>
        </p:nvSpPr>
        <p:spPr>
          <a:xfrm>
            <a:off x="6307931" y="3963246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cerebro de la misión: voz, árbol de comportamiento, batería e informe.</a:t>
            </a:r>
            <a:endParaRPr lang="es-ES" sz="700" noProof="0" dirty="0"/>
          </a:p>
        </p:txBody>
      </p:sp>
      <p:sp>
        <p:nvSpPr>
          <p:cNvPr id="38" name="Text 35"/>
          <p:cNvSpPr/>
          <p:nvPr/>
        </p:nvSpPr>
        <p:spPr>
          <a:xfrm>
            <a:off x="500063" y="4811316"/>
            <a:ext cx="468451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modularidad reduce acoplamiento y facilita el salto a hardware real.</a:t>
            </a:r>
            <a:endParaRPr lang="es-ES" sz="900" noProof="0" dirty="0"/>
          </a:p>
        </p:txBody>
      </p:sp>
      <p:sp>
        <p:nvSpPr>
          <p:cNvPr id="39" name="Text 36"/>
          <p:cNvSpPr/>
          <p:nvPr/>
        </p:nvSpPr>
        <p:spPr>
          <a:xfrm>
            <a:off x="6861572" y="4829175"/>
            <a:ext cx="1782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TOPICS · ACCIONES · SEÑALES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62007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PLATAFORMA ROBÓTICA Y SIMULACIÓN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69714"/>
            <a:ext cx="5429250" cy="596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Husky A200 transporta el UR5e y aproxima la visión al interior de la torre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000875" y="464344"/>
            <a:ext cx="1643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Entorno reproducible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000875" y="659011"/>
            <a:ext cx="5536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 2 Jazzy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000875" y="793654"/>
            <a:ext cx="98048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Ubuntu 24.04 · WSL2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7000875" y="928297"/>
            <a:ext cx="6411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 Sim 8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750094" y="1556947"/>
            <a:ext cx="7108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 MÓVIL</a:t>
            </a:r>
            <a:endParaRPr lang="es-ES" sz="650" noProof="0" dirty="0"/>
          </a:p>
        </p:txBody>
      </p:sp>
      <p:sp>
        <p:nvSpPr>
          <p:cNvPr id="10" name="Text 7"/>
          <p:cNvSpPr/>
          <p:nvPr/>
        </p:nvSpPr>
        <p:spPr>
          <a:xfrm>
            <a:off x="2533157" y="1556947"/>
            <a:ext cx="7886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BRAZO 6 DOF</a:t>
            </a:r>
            <a:endParaRPr lang="es-ES" sz="650" noProof="0" dirty="0"/>
          </a:p>
        </p:txBody>
      </p:sp>
      <p:sp>
        <p:nvSpPr>
          <p:cNvPr id="11" name="Text 8"/>
          <p:cNvSpPr/>
          <p:nvPr/>
        </p:nvSpPr>
        <p:spPr>
          <a:xfrm>
            <a:off x="750094" y="3826873"/>
            <a:ext cx="2571750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Esquema funcional: tracción diferencial, brazo de inspección y cámara en el TCP para observación cercana de defectos.</a:t>
            </a:r>
            <a:endParaRPr lang="es-ES" sz="750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3" y="1701217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588" y="1520307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Husky A200</a:t>
            </a:r>
            <a:endParaRPr lang="es-ES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4700588" y="1736406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diferencial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navegación autónoma dentro de la nave industrial y acceso al tramo de torre.</a:t>
            </a:r>
            <a:endParaRPr lang="es-ES" sz="800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3" y="2449525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0588" y="2268615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UR5e montado en la base</a:t>
            </a:r>
            <a:endParaRPr lang="es-ES" sz="1000" noProof="0" dirty="0"/>
          </a:p>
        </p:txBody>
      </p:sp>
      <p:sp>
        <p:nvSpPr>
          <p:cNvPr id="17" name="Text 12"/>
          <p:cNvSpPr/>
          <p:nvPr/>
        </p:nvSpPr>
        <p:spPr>
          <a:xfrm>
            <a:off x="4700588" y="2484713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Brazo manipulador de seis grados de libertad que posiciona la cámara de inspección cerca de la pared interior.</a:t>
            </a:r>
            <a:endParaRPr lang="es-ES" sz="800" noProof="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794" y="3197833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0588" y="3016923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Sensores para estimación y percepción</a:t>
            </a:r>
            <a:endParaRPr lang="es-ES" sz="1000" noProof="0" dirty="0"/>
          </a:p>
        </p:txBody>
      </p:sp>
      <p:sp>
        <p:nvSpPr>
          <p:cNvPr id="20" name="Text 14"/>
          <p:cNvSpPr/>
          <p:nvPr/>
        </p:nvSpPr>
        <p:spPr>
          <a:xfrm>
            <a:off x="4700588" y="3233021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IMU, LIDAR 2D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Hokuyo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LIDAR 3D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Velodyne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VLP-16 y cámara de inspección en el TCP con iluminación.</a:t>
            </a:r>
            <a:endParaRPr lang="es-ES" sz="800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4078" y="3946141"/>
            <a:ext cx="192881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00588" y="3765231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Escena industrial en Gazebo</a:t>
            </a:r>
            <a:endParaRPr lang="es-ES" sz="1000" noProof="0" dirty="0"/>
          </a:p>
        </p:txBody>
      </p:sp>
      <p:sp>
        <p:nvSpPr>
          <p:cNvPr id="23" name="Text 16"/>
          <p:cNvSpPr/>
          <p:nvPr/>
        </p:nvSpPr>
        <p:spPr>
          <a:xfrm>
            <a:off x="4700588" y="3981329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simulación reproduce una nave con tramo de torre eólica, tubo y virador para ejecutar la misión completa.</a:t>
            </a:r>
            <a:endParaRPr lang="es-ES" sz="800" noProof="0" dirty="0"/>
          </a:p>
        </p:txBody>
      </p:sp>
      <p:sp>
        <p:nvSpPr>
          <p:cNvPr id="24" name="Shape 17"/>
          <p:cNvSpPr/>
          <p:nvPr/>
        </p:nvSpPr>
        <p:spPr>
          <a:xfrm>
            <a:off x="500063" y="4500563"/>
            <a:ext cx="8143875" cy="6429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18"/>
          <p:cNvSpPr/>
          <p:nvPr/>
        </p:nvSpPr>
        <p:spPr>
          <a:xfrm>
            <a:off x="500063" y="4500563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19"/>
          <p:cNvSpPr/>
          <p:nvPr/>
        </p:nvSpPr>
        <p:spPr>
          <a:xfrm>
            <a:off x="714375" y="4756845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CONFIGURACIÓN</a:t>
            </a:r>
            <a:endParaRPr lang="es-ES" sz="750" noProof="0" dirty="0"/>
          </a:p>
        </p:txBody>
      </p:sp>
      <p:sp>
        <p:nvSpPr>
          <p:cNvPr id="27" name="Text 20"/>
          <p:cNvSpPr/>
          <p:nvPr/>
        </p:nvSpPr>
        <p:spPr>
          <a:xfrm>
            <a:off x="2414588" y="4639447"/>
            <a:ext cx="4029075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plataforma se genera de forma declarativa para mantener trazabilidad entre simulación y despliegue real.</a:t>
            </a:r>
            <a:endParaRPr lang="es-ES" sz="900" noProof="0" dirty="0"/>
          </a:p>
        </p:txBody>
      </p:sp>
      <p:sp>
        <p:nvSpPr>
          <p:cNvPr id="28" name="Text 21"/>
          <p:cNvSpPr/>
          <p:nvPr/>
        </p:nvSpPr>
        <p:spPr>
          <a:xfrm>
            <a:off x="6643688" y="4677035"/>
            <a:ext cx="1785938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robot.yaml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URDF/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Xacro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6257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SIMULACIÓN Y VALIDACIÓN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76858"/>
            <a:ext cx="58578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escenario fuerza navegación segura, percepción verificable y misión robusta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000875" y="478631"/>
            <a:ext cx="1643063" cy="15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Gazebo Sim 8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000875" y="683651"/>
            <a:ext cx="161270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 industrial con tramo de torre,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000875" y="821085"/>
            <a:ext cx="15359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tubo, rampa, actores dinámicos y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7000875" y="958518"/>
            <a:ext cx="9572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defectos sembrados.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500063" y="1532000"/>
            <a:ext cx="3118554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Tres mundos SDF con funciones separadas</a:t>
            </a:r>
            <a:endParaRPr lang="es-ES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618616" y="1601651"/>
            <a:ext cx="18106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PRINCIPAL · ACTORS · SYNTHETIC</a:t>
            </a:r>
            <a:endParaRPr lang="es-ES" sz="7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466045"/>
            <a:ext cx="225028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794" y="2819660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01</a:t>
            </a:r>
            <a:endParaRPr lang="es-ES" sz="700" noProof="0" dirty="0"/>
          </a:p>
        </p:txBody>
      </p:sp>
      <p:sp>
        <p:nvSpPr>
          <p:cNvPr id="13" name="Text 9"/>
          <p:cNvSpPr/>
          <p:nvPr/>
        </p:nvSpPr>
        <p:spPr>
          <a:xfrm>
            <a:off x="635794" y="3069692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Principal</a:t>
            </a:r>
            <a:endParaRPr lang="es-ES" sz="900" noProof="0" dirty="0"/>
          </a:p>
        </p:txBody>
      </p:sp>
      <p:sp>
        <p:nvSpPr>
          <p:cNvPr id="14" name="Text 10"/>
          <p:cNvSpPr/>
          <p:nvPr/>
        </p:nvSpPr>
        <p:spPr>
          <a:xfrm>
            <a:off x="635794" y="3312579"/>
            <a:ext cx="1285875" cy="57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 industrial, tramo de torre eólica, tubo de inspección y zona de acceso para la misión.</a:t>
            </a:r>
            <a:endParaRPr lang="es-ES" sz="700" noProof="0" dirty="0"/>
          </a:p>
        </p:txBody>
      </p:sp>
      <p:sp>
        <p:nvSpPr>
          <p:cNvPr id="15" name="Shape 11"/>
          <p:cNvSpPr/>
          <p:nvPr/>
        </p:nvSpPr>
        <p:spPr>
          <a:xfrm>
            <a:off x="2185988" y="2241017"/>
            <a:ext cx="1557338" cy="1500188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5" y="2458901"/>
            <a:ext cx="125016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14575" y="2812517"/>
            <a:ext cx="13001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FFFFFF">
                    <a:alpha val="82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02</a:t>
            </a:r>
            <a:endParaRPr lang="es-ES" sz="700" noProof="0" dirty="0"/>
          </a:p>
        </p:txBody>
      </p:sp>
      <p:sp>
        <p:nvSpPr>
          <p:cNvPr id="18" name="Text 13"/>
          <p:cNvSpPr/>
          <p:nvPr/>
        </p:nvSpPr>
        <p:spPr>
          <a:xfrm>
            <a:off x="2314575" y="3062548"/>
            <a:ext cx="1300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Defects</a:t>
            </a:r>
            <a:r>
              <a:rPr lang="es-ES" sz="9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</a:t>
            </a:r>
            <a:r>
              <a:rPr lang="es-ES" sz="90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actors</a:t>
            </a:r>
            <a:endParaRPr lang="es-ES" sz="900" noProof="0" dirty="0"/>
          </a:p>
        </p:txBody>
      </p:sp>
      <p:sp>
        <p:nvSpPr>
          <p:cNvPr id="19" name="Text 14"/>
          <p:cNvSpPr/>
          <p:nvPr/>
        </p:nvSpPr>
        <p:spPr>
          <a:xfrm>
            <a:off x="2314575" y="3305435"/>
            <a:ext cx="1300163" cy="71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animadas con colisión y defectos sembrados para comprobar navegación y visión.</a:t>
            </a:r>
            <a:endParaRPr lang="es-ES" sz="700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7644" y="2466045"/>
            <a:ext cx="20002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07644" y="2819660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03</a:t>
            </a:r>
            <a:endParaRPr lang="es-ES" sz="700" noProof="0" dirty="0"/>
          </a:p>
        </p:txBody>
      </p:sp>
      <p:sp>
        <p:nvSpPr>
          <p:cNvPr id="22" name="Text 16"/>
          <p:cNvSpPr/>
          <p:nvPr/>
        </p:nvSpPr>
        <p:spPr>
          <a:xfrm>
            <a:off x="4007644" y="3069692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Synthetic</a:t>
            </a:r>
            <a:endParaRPr lang="es-ES" sz="900" noProof="0" dirty="0"/>
          </a:p>
        </p:txBody>
      </p:sp>
      <p:sp>
        <p:nvSpPr>
          <p:cNvPr id="23" name="Text 17"/>
          <p:cNvSpPr/>
          <p:nvPr/>
        </p:nvSpPr>
        <p:spPr>
          <a:xfrm>
            <a:off x="4007644" y="3312579"/>
            <a:ext cx="1285875" cy="57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Escenario orientado a capturar imágenes y generar </a:t>
            </a:r>
            <a:r>
              <a:rPr lang="es-ES" sz="700" noProof="0" dirty="0" err="1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sintético para percepción.</a:t>
            </a:r>
            <a:endParaRPr lang="es-ES" sz="700" noProof="0" dirty="0"/>
          </a:p>
        </p:txBody>
      </p:sp>
      <p:sp>
        <p:nvSpPr>
          <p:cNvPr id="24" name="Text 18"/>
          <p:cNvSpPr/>
          <p:nvPr/>
        </p:nvSpPr>
        <p:spPr>
          <a:xfrm>
            <a:off x="500063" y="4143040"/>
            <a:ext cx="92868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GROUND TRUTH</a:t>
            </a:r>
            <a:endParaRPr lang="es-ES" sz="750" noProof="0" dirty="0"/>
          </a:p>
        </p:txBody>
      </p:sp>
      <p:sp>
        <p:nvSpPr>
          <p:cNvPr id="25" name="Text 19"/>
          <p:cNvSpPr/>
          <p:nvPr/>
        </p:nvSpPr>
        <p:spPr>
          <a:xfrm>
            <a:off x="1557338" y="4110363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defects_ground_truth.yaml</a:t>
            </a:r>
            <a:endParaRPr lang="es-ES" sz="850" noProof="0" dirty="0"/>
          </a:p>
        </p:txBody>
      </p:sp>
      <p:sp>
        <p:nvSpPr>
          <p:cNvPr id="26" name="Text 20"/>
          <p:cNvSpPr/>
          <p:nvPr/>
        </p:nvSpPr>
        <p:spPr>
          <a:xfrm>
            <a:off x="3271838" y="4121079"/>
            <a:ext cx="17966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almacena posiciones reales de</a:t>
            </a:r>
            <a:endParaRPr lang="es-ES" sz="850" noProof="0" dirty="0"/>
          </a:p>
        </p:txBody>
      </p:sp>
      <p:sp>
        <p:nvSpPr>
          <p:cNvPr id="27" name="Text 21"/>
          <p:cNvSpPr/>
          <p:nvPr/>
        </p:nvSpPr>
        <p:spPr>
          <a:xfrm>
            <a:off x="1557338" y="4286808"/>
            <a:ext cx="19698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defectos para validar la detección.</a:t>
            </a:r>
            <a:endParaRPr lang="es-ES" sz="850" noProof="0" dirty="0"/>
          </a:p>
        </p:txBody>
      </p:sp>
      <p:sp>
        <p:nvSpPr>
          <p:cNvPr id="28" name="Shape 22"/>
          <p:cNvSpPr/>
          <p:nvPr/>
        </p:nvSpPr>
        <p:spPr>
          <a:xfrm>
            <a:off x="5743575" y="1757614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019" y="1879057"/>
            <a:ext cx="171450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300788" y="1620096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Obstáculos dinámicos</a:t>
            </a:r>
            <a:endParaRPr lang="es-ES" sz="950" noProof="0" dirty="0"/>
          </a:p>
        </p:txBody>
      </p:sp>
      <p:sp>
        <p:nvSpPr>
          <p:cNvPr id="31" name="Text 24"/>
          <p:cNvSpPr/>
          <p:nvPr/>
        </p:nvSpPr>
        <p:spPr>
          <a:xfrm>
            <a:off x="6300788" y="1843339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personas no son decorado: sus cápsulas de colisión se sincronizan con la animación para afectar al </a:t>
            </a:r>
            <a:r>
              <a:rPr lang="es-ES" sz="750" noProof="0" dirty="0" err="1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32" name="Shape 25"/>
          <p:cNvSpPr/>
          <p:nvPr/>
        </p:nvSpPr>
        <p:spPr>
          <a:xfrm>
            <a:off x="5743575" y="2798201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5019" y="2919645"/>
            <a:ext cx="171450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00788" y="2660684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Defectos medibles</a:t>
            </a:r>
            <a:endParaRPr lang="es-ES" sz="950" noProof="0" dirty="0"/>
          </a:p>
        </p:txBody>
      </p:sp>
      <p:sp>
        <p:nvSpPr>
          <p:cNvPr id="35" name="Text 27"/>
          <p:cNvSpPr/>
          <p:nvPr/>
        </p:nvSpPr>
        <p:spPr>
          <a:xfrm>
            <a:off x="6300788" y="2883926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defectos se colocan con posiciones conocidas, lo que permite comparar detecciones contra una referencia objetiva.</a:t>
            </a:r>
            <a:endParaRPr lang="es-ES" sz="750" noProof="0" dirty="0"/>
          </a:p>
        </p:txBody>
      </p:sp>
      <p:sp>
        <p:nvSpPr>
          <p:cNvPr id="36" name="Shape 28"/>
          <p:cNvSpPr/>
          <p:nvPr/>
        </p:nvSpPr>
        <p:spPr>
          <a:xfrm>
            <a:off x="5743575" y="3838817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588" y="3960261"/>
            <a:ext cx="214313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00788" y="3701300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Integración bajo presión</a:t>
            </a:r>
            <a:endParaRPr lang="es-ES" sz="950" noProof="0" dirty="0"/>
          </a:p>
        </p:txBody>
      </p:sp>
      <p:sp>
        <p:nvSpPr>
          <p:cNvPr id="39" name="Text 30"/>
          <p:cNvSpPr/>
          <p:nvPr/>
        </p:nvSpPr>
        <p:spPr>
          <a:xfrm>
            <a:off x="6300788" y="3924542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robot debe navegar, esquivar, entrar al tubo e inspeccionar sin romper la coherencia de misión.</a:t>
            </a:r>
            <a:endParaRPr lang="es-ES" sz="750" noProof="0" dirty="0"/>
          </a:p>
        </p:txBody>
      </p:sp>
      <p:sp>
        <p:nvSpPr>
          <p:cNvPr id="40" name="Text 31"/>
          <p:cNvSpPr/>
          <p:nvPr/>
        </p:nvSpPr>
        <p:spPr>
          <a:xfrm>
            <a:off x="500063" y="4804172"/>
            <a:ext cx="55864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simulación no solo visualiza la demo: crea condiciones de prueba cuantificables.</a:t>
            </a:r>
            <a:endParaRPr lang="es-ES" sz="900" noProof="0" dirty="0"/>
          </a:p>
        </p:txBody>
      </p:sp>
      <p:sp>
        <p:nvSpPr>
          <p:cNvPr id="41" name="Text 32"/>
          <p:cNvSpPr/>
          <p:nvPr/>
        </p:nvSpPr>
        <p:spPr>
          <a:xfrm>
            <a:off x="6378280" y="4822031"/>
            <a:ext cx="226565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NAVEGACIÓN · PERCEPCIÓN · MISIÓN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95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NAVEGACIÓN AUTÓNOMA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657225"/>
            <a:ext cx="5715000" cy="910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Nav2 combina localización, </a:t>
            </a: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costmaps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y control suave para superar rampa y personas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6786563" y="657225"/>
            <a:ext cx="1785938" cy="750094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clave no fue aumentar potencia, sino estabilizar la trayectoria para preservar tracción y coherencia de AMCL.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500063" y="1965815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1357313" y="1859384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y localización</a:t>
            </a:r>
            <a:endParaRPr lang="es-ES" sz="950" noProof="0" dirty="0"/>
          </a:p>
        </p:txBody>
      </p:sp>
      <p:sp>
        <p:nvSpPr>
          <p:cNvPr id="8" name="Text 5"/>
          <p:cNvSpPr/>
          <p:nvPr/>
        </p:nvSpPr>
        <p:spPr>
          <a:xfrm>
            <a:off x="1357313" y="2068339"/>
            <a:ext cx="2571750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SLAM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Toolbox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 el mapa; AMCL estima la pose global sobre el entorno ya construido.</a:t>
            </a:r>
            <a:endParaRPr lang="es-ES" sz="750" noProof="0" dirty="0"/>
          </a:p>
        </p:txBody>
      </p:sp>
      <p:sp>
        <p:nvSpPr>
          <p:cNvPr id="9" name="Text 6"/>
          <p:cNvSpPr/>
          <p:nvPr/>
        </p:nvSpPr>
        <p:spPr>
          <a:xfrm>
            <a:off x="500063" y="2684906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700" noProof="0" dirty="0"/>
          </a:p>
        </p:txBody>
      </p:sp>
      <p:sp>
        <p:nvSpPr>
          <p:cNvPr id="10" name="Text 7"/>
          <p:cNvSpPr/>
          <p:nvPr/>
        </p:nvSpPr>
        <p:spPr>
          <a:xfrm>
            <a:off x="1357313" y="2503382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Fusión de estado</a:t>
            </a:r>
            <a:endParaRPr lang="es-ES" sz="950" noProof="0" dirty="0"/>
          </a:p>
        </p:txBody>
      </p:sp>
      <p:sp>
        <p:nvSpPr>
          <p:cNvPr id="11" name="Text 8"/>
          <p:cNvSpPr/>
          <p:nvPr/>
        </p:nvSpPr>
        <p:spPr>
          <a:xfrm>
            <a:off x="1357313" y="2712337"/>
            <a:ext cx="2571750" cy="450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EKF con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robot_localization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fusiona IMU y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odometría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mantener la transformación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odom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base_link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2" name="Text 9"/>
          <p:cNvSpPr/>
          <p:nvPr/>
        </p:nvSpPr>
        <p:spPr>
          <a:xfrm>
            <a:off x="500063" y="3465863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1357313" y="3284339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Planificación y control</a:t>
            </a:r>
            <a:endParaRPr lang="es-ES" sz="950" noProof="0" dirty="0"/>
          </a:p>
        </p:txBody>
      </p:sp>
      <p:sp>
        <p:nvSpPr>
          <p:cNvPr id="14" name="Text 11"/>
          <p:cNvSpPr/>
          <p:nvPr/>
        </p:nvSpPr>
        <p:spPr>
          <a:xfrm>
            <a:off x="1357313" y="3493294"/>
            <a:ext cx="2571750" cy="450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NavFn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calcula la ruta global;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Pure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Pursuit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ejecuta el seguimiento local con BT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Navigator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5" name="Text 12"/>
          <p:cNvSpPr/>
          <p:nvPr/>
        </p:nvSpPr>
        <p:spPr>
          <a:xfrm>
            <a:off x="500063" y="4184954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700" noProof="0" dirty="0"/>
          </a:p>
        </p:txBody>
      </p:sp>
      <p:sp>
        <p:nvSpPr>
          <p:cNvPr id="16" name="Text 13"/>
          <p:cNvSpPr/>
          <p:nvPr/>
        </p:nvSpPr>
        <p:spPr>
          <a:xfrm>
            <a:off x="1357313" y="4078523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Obstáculos dinámicos</a:t>
            </a:r>
            <a:endParaRPr lang="es-ES" sz="950" noProof="0" dirty="0"/>
          </a:p>
        </p:txBody>
      </p:sp>
      <p:sp>
        <p:nvSpPr>
          <p:cNvPr id="17" name="Text 14"/>
          <p:cNvSpPr/>
          <p:nvPr/>
        </p:nvSpPr>
        <p:spPr>
          <a:xfrm>
            <a:off x="1357313" y="4287478"/>
            <a:ext cx="2571750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filtro de nube 3D elimina suelo del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Velodyne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conserva personas caminando en el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8" name="Shape 15"/>
          <p:cNvSpPr/>
          <p:nvPr/>
        </p:nvSpPr>
        <p:spPr>
          <a:xfrm>
            <a:off x="4586288" y="1781863"/>
            <a:ext cx="4057650" cy="44291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6"/>
          <p:cNvSpPr/>
          <p:nvPr/>
        </p:nvSpPr>
        <p:spPr>
          <a:xfrm>
            <a:off x="4586288" y="1781863"/>
            <a:ext cx="4057650" cy="442913"/>
          </a:xfrm>
          <a:prstGeom prst="rect">
            <a:avLst/>
          </a:prstGeom>
          <a:noFill/>
          <a:ln/>
        </p:spPr>
        <p:txBody>
          <a:bodyPr wrap="square" lIns="204089" tIns="0" rIns="204089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Tuning crítico: rampa de 13°</a:t>
            </a:r>
            <a:endParaRPr lang="es-ES" sz="1000" noProof="0" dirty="0"/>
          </a:p>
        </p:txBody>
      </p:sp>
      <p:sp>
        <p:nvSpPr>
          <p:cNvPr id="20" name="Text 17"/>
          <p:cNvSpPr/>
          <p:nvPr/>
        </p:nvSpPr>
        <p:spPr>
          <a:xfrm>
            <a:off x="4586288" y="2310501"/>
            <a:ext cx="4057650" cy="48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Hipótesis descartada: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aumentar velocidad y aceleración provocaba patinaje en giros y pérdida de coherencia de localización. </a:t>
            </a: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Solución: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acelerar menos y mirar más lejos.</a:t>
            </a:r>
            <a:endParaRPr lang="es-ES" sz="750" noProof="0" dirty="0"/>
          </a:p>
        </p:txBody>
      </p:sp>
      <p:sp>
        <p:nvSpPr>
          <p:cNvPr id="21" name="Text 18"/>
          <p:cNvSpPr/>
          <p:nvPr/>
        </p:nvSpPr>
        <p:spPr>
          <a:xfrm>
            <a:off x="4586288" y="2892130"/>
            <a:ext cx="1352541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l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PARÁMETRO</a:t>
            </a:r>
            <a:endParaRPr lang="es-ES" sz="550" noProof="0" dirty="0"/>
          </a:p>
        </p:txBody>
      </p:sp>
      <p:sp>
        <p:nvSpPr>
          <p:cNvPr id="22" name="Text 19"/>
          <p:cNvSpPr/>
          <p:nvPr/>
        </p:nvSpPr>
        <p:spPr>
          <a:xfrm>
            <a:off x="5938828" y="2892130"/>
            <a:ext cx="1352541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ANTES</a:t>
            </a:r>
            <a:endParaRPr lang="es-ES" sz="550" noProof="0" dirty="0"/>
          </a:p>
        </p:txBody>
      </p:sp>
      <p:sp>
        <p:nvSpPr>
          <p:cNvPr id="23" name="Text 20"/>
          <p:cNvSpPr/>
          <p:nvPr/>
        </p:nvSpPr>
        <p:spPr>
          <a:xfrm>
            <a:off x="7291369" y="2892130"/>
            <a:ext cx="1352569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DESPUÉS</a:t>
            </a:r>
            <a:endParaRPr lang="es-ES" sz="550" noProof="0" dirty="0"/>
          </a:p>
        </p:txBody>
      </p:sp>
      <p:sp>
        <p:nvSpPr>
          <p:cNvPr id="24" name="Text 21"/>
          <p:cNvSpPr/>
          <p:nvPr/>
        </p:nvSpPr>
        <p:spPr>
          <a:xfrm>
            <a:off x="4629150" y="3204670"/>
            <a:ext cx="840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lookahead_dist</a:t>
            </a:r>
            <a:endParaRPr lang="es-ES" sz="750" noProof="0" dirty="0"/>
          </a:p>
        </p:txBody>
      </p:sp>
      <p:sp>
        <p:nvSpPr>
          <p:cNvPr id="25" name="Text 22"/>
          <p:cNvSpPr/>
          <p:nvPr/>
        </p:nvSpPr>
        <p:spPr>
          <a:xfrm>
            <a:off x="5938828" y="3106443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s-ES" sz="750" noProof="0" dirty="0"/>
          </a:p>
        </p:txBody>
      </p:sp>
      <p:sp>
        <p:nvSpPr>
          <p:cNvPr id="26" name="Text 23"/>
          <p:cNvSpPr/>
          <p:nvPr/>
        </p:nvSpPr>
        <p:spPr>
          <a:xfrm>
            <a:off x="8468916" y="3211813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1.2</a:t>
            </a:r>
            <a:endParaRPr lang="es-ES" sz="700" noProof="0" dirty="0"/>
          </a:p>
        </p:txBody>
      </p:sp>
      <p:sp>
        <p:nvSpPr>
          <p:cNvPr id="27" name="Text 24"/>
          <p:cNvSpPr/>
          <p:nvPr/>
        </p:nvSpPr>
        <p:spPr>
          <a:xfrm>
            <a:off x="4629150" y="3474346"/>
            <a:ext cx="10201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max_angular_accel</a:t>
            </a:r>
            <a:endParaRPr lang="es-ES" sz="750" noProof="0" dirty="0"/>
          </a:p>
        </p:txBody>
      </p:sp>
      <p:sp>
        <p:nvSpPr>
          <p:cNvPr id="28" name="Text 25"/>
          <p:cNvSpPr/>
          <p:nvPr/>
        </p:nvSpPr>
        <p:spPr>
          <a:xfrm>
            <a:off x="5938828" y="3377905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</a:t>
            </a:r>
            <a:endParaRPr lang="es-ES" sz="750" noProof="0" dirty="0"/>
          </a:p>
        </p:txBody>
      </p:sp>
      <p:sp>
        <p:nvSpPr>
          <p:cNvPr id="29" name="Text 26"/>
          <p:cNvSpPr/>
          <p:nvPr/>
        </p:nvSpPr>
        <p:spPr>
          <a:xfrm>
            <a:off x="8468916" y="3481490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1.2</a:t>
            </a:r>
            <a:endParaRPr lang="es-ES" sz="700" noProof="0" dirty="0"/>
          </a:p>
        </p:txBody>
      </p:sp>
      <p:sp>
        <p:nvSpPr>
          <p:cNvPr id="30" name="Text 27"/>
          <p:cNvSpPr/>
          <p:nvPr/>
        </p:nvSpPr>
        <p:spPr>
          <a:xfrm>
            <a:off x="4629150" y="3745809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smoother.max_accel</a:t>
            </a:r>
            <a:endParaRPr lang="es-ES" sz="750" noProof="0" dirty="0"/>
          </a:p>
        </p:txBody>
      </p:sp>
      <p:sp>
        <p:nvSpPr>
          <p:cNvPr id="31" name="Text 28"/>
          <p:cNvSpPr/>
          <p:nvPr/>
        </p:nvSpPr>
        <p:spPr>
          <a:xfrm>
            <a:off x="5938828" y="3649368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</a:t>
            </a:r>
            <a:endParaRPr lang="es-ES" sz="750" noProof="0" dirty="0"/>
          </a:p>
        </p:txBody>
      </p:sp>
      <p:sp>
        <p:nvSpPr>
          <p:cNvPr id="32" name="Text 29"/>
          <p:cNvSpPr/>
          <p:nvPr/>
        </p:nvSpPr>
        <p:spPr>
          <a:xfrm>
            <a:off x="8386763" y="3752952"/>
            <a:ext cx="2143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0.75</a:t>
            </a:r>
            <a:endParaRPr lang="es-ES" sz="700" noProof="0" dirty="0"/>
          </a:p>
        </p:txBody>
      </p:sp>
      <p:sp>
        <p:nvSpPr>
          <p:cNvPr id="33" name="Text 30"/>
          <p:cNvSpPr/>
          <p:nvPr/>
        </p:nvSpPr>
        <p:spPr>
          <a:xfrm>
            <a:off x="4629150" y="4017271"/>
            <a:ext cx="16202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rotate_to_heading_min_angle</a:t>
            </a:r>
            <a:endParaRPr lang="es-ES" sz="750" noProof="0" dirty="0"/>
          </a:p>
        </p:txBody>
      </p:sp>
      <p:sp>
        <p:nvSpPr>
          <p:cNvPr id="34" name="Text 31"/>
          <p:cNvSpPr/>
          <p:nvPr/>
        </p:nvSpPr>
        <p:spPr>
          <a:xfrm>
            <a:off x="5938828" y="3920830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45°</a:t>
            </a:r>
            <a:endParaRPr lang="es-ES" sz="750" noProof="0" dirty="0"/>
          </a:p>
        </p:txBody>
      </p:sp>
      <p:sp>
        <p:nvSpPr>
          <p:cNvPr id="35" name="Text 32"/>
          <p:cNvSpPr/>
          <p:nvPr/>
        </p:nvSpPr>
        <p:spPr>
          <a:xfrm>
            <a:off x="8427839" y="4024415"/>
            <a:ext cx="1732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60°</a:t>
            </a:r>
            <a:endParaRPr lang="es-ES" sz="700" noProof="0" dirty="0"/>
          </a:p>
        </p:txBody>
      </p:sp>
      <p:sp>
        <p:nvSpPr>
          <p:cNvPr id="36" name="Text 33"/>
          <p:cNvSpPr/>
          <p:nvPr/>
        </p:nvSpPr>
        <p:spPr>
          <a:xfrm>
            <a:off x="4586288" y="4473578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RESULTADO</a:t>
            </a:r>
            <a:endParaRPr lang="es-ES" sz="650" noProof="0" dirty="0"/>
          </a:p>
        </p:txBody>
      </p:sp>
      <p:sp>
        <p:nvSpPr>
          <p:cNvPr id="37" name="Text 34"/>
          <p:cNvSpPr/>
          <p:nvPr/>
        </p:nvSpPr>
        <p:spPr>
          <a:xfrm>
            <a:off x="5586413" y="4374459"/>
            <a:ext cx="30575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Trayectoria más estable, menor deslizamiento y mejor continuidad de navegación dentro del tubo.</a:t>
            </a:r>
            <a:endParaRPr lang="es-ES" sz="750" noProof="0" dirty="0"/>
          </a:p>
        </p:txBody>
      </p:sp>
      <p:sp>
        <p:nvSpPr>
          <p:cNvPr id="38" name="Text 35"/>
          <p:cNvSpPr/>
          <p:nvPr/>
        </p:nvSpPr>
        <p:spPr>
          <a:xfrm>
            <a:off x="500063" y="4829538"/>
            <a:ext cx="592931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Lectura técnica: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el rendimiento depende tanto del 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Nav2 como del preprocesado de percepción y de la dinámica realista del robot en pendiente.</a:t>
            </a:r>
            <a:endParaRPr lang="es-ES" sz="700" noProof="0" dirty="0"/>
          </a:p>
        </p:txBody>
      </p:sp>
      <p:sp>
        <p:nvSpPr>
          <p:cNvPr id="39" name="Text 36"/>
          <p:cNvSpPr/>
          <p:nvPr/>
        </p:nvSpPr>
        <p:spPr>
          <a:xfrm>
            <a:off x="6715125" y="4913812"/>
            <a:ext cx="19288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SLAM · EKF · AMCL · NAV2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MANIPULACIÓN AUTÓNOMA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671513"/>
            <a:ext cx="64293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MoveIt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2 coordina el UR5e para cubrir 360° del interior de la torre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564146"/>
            <a:ext cx="3714750" cy="32861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Secuencia de inspección del brazo</a:t>
            </a:r>
            <a:endParaRPr lang="es-ES" sz="9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70" y="2397286"/>
            <a:ext cx="201811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690" y="2633030"/>
            <a:ext cx="3339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HOME</a:t>
            </a:r>
            <a:endParaRPr lang="es-ES" sz="650" noProof="0" dirty="0"/>
          </a:p>
        </p:txBody>
      </p:sp>
      <p:sp>
        <p:nvSpPr>
          <p:cNvPr id="8" name="Shape 4"/>
          <p:cNvSpPr/>
          <p:nvPr/>
        </p:nvSpPr>
        <p:spPr>
          <a:xfrm>
            <a:off x="1300163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5"/>
          <p:cNvSpPr/>
          <p:nvPr/>
        </p:nvSpPr>
        <p:spPr>
          <a:xfrm>
            <a:off x="1300163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6"/>
          <p:cNvSpPr/>
          <p:nvPr/>
        </p:nvSpPr>
        <p:spPr>
          <a:xfrm>
            <a:off x="1400789" y="2426754"/>
            <a:ext cx="517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s-ES" sz="900" noProof="0" dirty="0"/>
          </a:p>
        </p:txBody>
      </p:sp>
      <p:sp>
        <p:nvSpPr>
          <p:cNvPr id="11" name="Text 7"/>
          <p:cNvSpPr/>
          <p:nvPr/>
        </p:nvSpPr>
        <p:spPr>
          <a:xfrm>
            <a:off x="1360605" y="2619635"/>
            <a:ext cx="13215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45°</a:t>
            </a:r>
            <a:endParaRPr lang="es-ES" sz="550" noProof="0" dirty="0"/>
          </a:p>
        </p:txBody>
      </p:sp>
      <p:sp>
        <p:nvSpPr>
          <p:cNvPr id="12" name="Shape 8"/>
          <p:cNvSpPr/>
          <p:nvPr/>
        </p:nvSpPr>
        <p:spPr>
          <a:xfrm>
            <a:off x="1610385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Shape 9"/>
          <p:cNvSpPr/>
          <p:nvPr/>
        </p:nvSpPr>
        <p:spPr>
          <a:xfrm>
            <a:off x="1610385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0"/>
          <p:cNvSpPr/>
          <p:nvPr/>
        </p:nvSpPr>
        <p:spPr>
          <a:xfrm>
            <a:off x="1698538" y="2426754"/>
            <a:ext cx="767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s-ES" sz="900" noProof="0" dirty="0"/>
          </a:p>
        </p:txBody>
      </p:sp>
      <p:sp>
        <p:nvSpPr>
          <p:cNvPr id="15" name="Text 11"/>
          <p:cNvSpPr/>
          <p:nvPr/>
        </p:nvSpPr>
        <p:spPr>
          <a:xfrm>
            <a:off x="1669070" y="2619635"/>
            <a:ext cx="13573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90°</a:t>
            </a:r>
            <a:endParaRPr lang="es-ES" sz="550" noProof="0" dirty="0"/>
          </a:p>
        </p:txBody>
      </p:sp>
      <p:sp>
        <p:nvSpPr>
          <p:cNvPr id="16" name="Shape 12"/>
          <p:cNvSpPr/>
          <p:nvPr/>
        </p:nvSpPr>
        <p:spPr>
          <a:xfrm>
            <a:off x="1920636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3"/>
          <p:cNvSpPr/>
          <p:nvPr/>
        </p:nvSpPr>
        <p:spPr>
          <a:xfrm>
            <a:off x="1920636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4"/>
          <p:cNvSpPr/>
          <p:nvPr/>
        </p:nvSpPr>
        <p:spPr>
          <a:xfrm>
            <a:off x="2008789" y="2426754"/>
            <a:ext cx="767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s-ES" sz="900" noProof="0" dirty="0"/>
          </a:p>
        </p:txBody>
      </p:sp>
      <p:sp>
        <p:nvSpPr>
          <p:cNvPr id="19" name="Text 15"/>
          <p:cNvSpPr/>
          <p:nvPr/>
        </p:nvSpPr>
        <p:spPr>
          <a:xfrm>
            <a:off x="1969498" y="2619635"/>
            <a:ext cx="15537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135°</a:t>
            </a:r>
            <a:endParaRPr lang="es-ES" sz="550" noProof="0" dirty="0"/>
          </a:p>
        </p:txBody>
      </p:sp>
      <p:sp>
        <p:nvSpPr>
          <p:cNvPr id="20" name="Shape 16"/>
          <p:cNvSpPr/>
          <p:nvPr/>
        </p:nvSpPr>
        <p:spPr>
          <a:xfrm>
            <a:off x="2230887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Shape 17"/>
          <p:cNvSpPr/>
          <p:nvPr/>
        </p:nvSpPr>
        <p:spPr>
          <a:xfrm>
            <a:off x="2230887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8"/>
          <p:cNvSpPr/>
          <p:nvPr/>
        </p:nvSpPr>
        <p:spPr>
          <a:xfrm>
            <a:off x="2312761" y="2426754"/>
            <a:ext cx="8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s-ES" sz="900" noProof="0" dirty="0"/>
          </a:p>
        </p:txBody>
      </p:sp>
      <p:sp>
        <p:nvSpPr>
          <p:cNvPr id="23" name="Text 19"/>
          <p:cNvSpPr/>
          <p:nvPr/>
        </p:nvSpPr>
        <p:spPr>
          <a:xfrm>
            <a:off x="2273471" y="2619635"/>
            <a:ext cx="16787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180°</a:t>
            </a:r>
            <a:endParaRPr lang="es-ES" sz="550" noProof="0" dirty="0"/>
          </a:p>
        </p:txBody>
      </p:sp>
      <p:sp>
        <p:nvSpPr>
          <p:cNvPr id="24" name="Shape 20"/>
          <p:cNvSpPr/>
          <p:nvPr/>
        </p:nvSpPr>
        <p:spPr>
          <a:xfrm>
            <a:off x="2541110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21"/>
          <p:cNvSpPr/>
          <p:nvPr/>
        </p:nvSpPr>
        <p:spPr>
          <a:xfrm>
            <a:off x="2541110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2"/>
          <p:cNvSpPr/>
          <p:nvPr/>
        </p:nvSpPr>
        <p:spPr>
          <a:xfrm>
            <a:off x="2628370" y="2426754"/>
            <a:ext cx="785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s-ES" sz="900" noProof="0" dirty="0"/>
          </a:p>
        </p:txBody>
      </p:sp>
      <p:sp>
        <p:nvSpPr>
          <p:cNvPr id="27" name="Text 23"/>
          <p:cNvSpPr/>
          <p:nvPr/>
        </p:nvSpPr>
        <p:spPr>
          <a:xfrm>
            <a:off x="2581935" y="2619635"/>
            <a:ext cx="1714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225°</a:t>
            </a:r>
            <a:endParaRPr lang="es-ES" sz="550" noProof="0" dirty="0"/>
          </a:p>
        </p:txBody>
      </p:sp>
      <p:sp>
        <p:nvSpPr>
          <p:cNvPr id="28" name="Shape 24"/>
          <p:cNvSpPr/>
          <p:nvPr/>
        </p:nvSpPr>
        <p:spPr>
          <a:xfrm>
            <a:off x="2851361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5"/>
          <p:cNvSpPr/>
          <p:nvPr/>
        </p:nvSpPr>
        <p:spPr>
          <a:xfrm>
            <a:off x="2851361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6"/>
          <p:cNvSpPr/>
          <p:nvPr/>
        </p:nvSpPr>
        <p:spPr>
          <a:xfrm>
            <a:off x="2935942" y="2426754"/>
            <a:ext cx="8393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</a:t>
            </a:r>
            <a:endParaRPr lang="es-ES" sz="900" noProof="0" dirty="0"/>
          </a:p>
        </p:txBody>
      </p:sp>
      <p:sp>
        <p:nvSpPr>
          <p:cNvPr id="31" name="Text 27"/>
          <p:cNvSpPr/>
          <p:nvPr/>
        </p:nvSpPr>
        <p:spPr>
          <a:xfrm>
            <a:off x="2888614" y="2619635"/>
            <a:ext cx="1785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270°</a:t>
            </a:r>
            <a:endParaRPr lang="es-ES" sz="550" noProof="0" dirty="0"/>
          </a:p>
        </p:txBody>
      </p:sp>
      <p:sp>
        <p:nvSpPr>
          <p:cNvPr id="32" name="Shape 28"/>
          <p:cNvSpPr/>
          <p:nvPr/>
        </p:nvSpPr>
        <p:spPr>
          <a:xfrm>
            <a:off x="3161612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3" name="Shape 29"/>
          <p:cNvSpPr/>
          <p:nvPr/>
        </p:nvSpPr>
        <p:spPr>
          <a:xfrm>
            <a:off x="3161612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Text 30"/>
          <p:cNvSpPr/>
          <p:nvPr/>
        </p:nvSpPr>
        <p:spPr>
          <a:xfrm>
            <a:off x="3247058" y="2426754"/>
            <a:ext cx="821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s-ES" sz="900" noProof="0" dirty="0"/>
          </a:p>
        </p:txBody>
      </p:sp>
      <p:sp>
        <p:nvSpPr>
          <p:cNvPr id="35" name="Text 31"/>
          <p:cNvSpPr/>
          <p:nvPr/>
        </p:nvSpPr>
        <p:spPr>
          <a:xfrm>
            <a:off x="3210446" y="2619635"/>
            <a:ext cx="15537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315°</a:t>
            </a:r>
            <a:endParaRPr lang="es-ES" sz="550" noProof="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903" y="2397286"/>
            <a:ext cx="178594" cy="17859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719215" y="2633030"/>
            <a:ext cx="3339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HOME</a:t>
            </a:r>
            <a:endParaRPr lang="es-ES" sz="650" noProof="0" dirty="0"/>
          </a:p>
        </p:txBody>
      </p:sp>
      <p:sp>
        <p:nvSpPr>
          <p:cNvPr id="38" name="Text 33"/>
          <p:cNvSpPr/>
          <p:nvPr/>
        </p:nvSpPr>
        <p:spPr>
          <a:xfrm>
            <a:off x="500063" y="3434804"/>
            <a:ext cx="1214438" cy="488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es-ES" sz="3750" b="1" kern="0" spc="-3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360°</a:t>
            </a:r>
            <a:endParaRPr lang="es-ES" sz="3750" noProof="0" dirty="0"/>
          </a:p>
        </p:txBody>
      </p:sp>
      <p:sp>
        <p:nvSpPr>
          <p:cNvPr id="39" name="Text 34"/>
          <p:cNvSpPr/>
          <p:nvPr/>
        </p:nvSpPr>
        <p:spPr>
          <a:xfrm>
            <a:off x="1914525" y="3250071"/>
            <a:ext cx="2300288" cy="858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nodo </a:t>
            </a:r>
            <a:r>
              <a:rPr lang="es-ES" sz="75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arm_inspection_node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ejecuta un barrido circular mediante siete posiciones de inspección separadas 45 grados, acercando la cámara al tubo desde el TCP.</a:t>
            </a:r>
            <a:endParaRPr lang="es-ES" sz="800" noProof="0" dirty="0"/>
          </a:p>
        </p:txBody>
      </p:sp>
      <p:sp>
        <p:nvSpPr>
          <p:cNvPr id="40" name="Shape 35"/>
          <p:cNvSpPr/>
          <p:nvPr/>
        </p:nvSpPr>
        <p:spPr>
          <a:xfrm>
            <a:off x="500063" y="4251034"/>
            <a:ext cx="3714750" cy="292057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1" name="Text 36"/>
          <p:cNvSpPr/>
          <p:nvPr/>
        </p:nvSpPr>
        <p:spPr>
          <a:xfrm>
            <a:off x="500063" y="4251034"/>
            <a:ext cx="3714750" cy="292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850" b="1" noProof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Publicación final: /</a:t>
            </a:r>
            <a:r>
              <a:rPr lang="es-ES" sz="850" b="1" noProof="0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arm</a:t>
            </a:r>
            <a:r>
              <a:rPr lang="es-ES" sz="850" b="1" noProof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</a:t>
            </a:r>
            <a:r>
              <a:rPr lang="es-ES" sz="850" b="1" noProof="0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inspection_ready</a:t>
            </a:r>
            <a:endParaRPr lang="es-ES" sz="850" noProof="0" dirty="0"/>
          </a:p>
        </p:txBody>
      </p:sp>
      <p:sp>
        <p:nvSpPr>
          <p:cNvPr id="42" name="Text 37"/>
          <p:cNvSpPr/>
          <p:nvPr/>
        </p:nvSpPr>
        <p:spPr>
          <a:xfrm>
            <a:off x="4600575" y="1818642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43" name="Text 38"/>
          <p:cNvSpPr/>
          <p:nvPr/>
        </p:nvSpPr>
        <p:spPr>
          <a:xfrm>
            <a:off x="5172075" y="1672921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y grupo cinemático</a:t>
            </a:r>
            <a:endParaRPr lang="es-ES" sz="950" noProof="0" dirty="0"/>
          </a:p>
        </p:txBody>
      </p:sp>
      <p:sp>
        <p:nvSpPr>
          <p:cNvPr id="44" name="Text 39"/>
          <p:cNvSpPr/>
          <p:nvPr/>
        </p:nvSpPr>
        <p:spPr>
          <a:xfrm>
            <a:off x="5172075" y="1881876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URDF/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Xacro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SRDF con grupo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manipulator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el UR5e montado sobre el Husky.</a:t>
            </a:r>
            <a:endParaRPr lang="es-ES" sz="750" noProof="0" dirty="0"/>
          </a:p>
        </p:txBody>
      </p:sp>
      <p:sp>
        <p:nvSpPr>
          <p:cNvPr id="45" name="Text 40"/>
          <p:cNvSpPr/>
          <p:nvPr/>
        </p:nvSpPr>
        <p:spPr>
          <a:xfrm>
            <a:off x="4600575" y="2566950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46" name="Text 41"/>
          <p:cNvSpPr/>
          <p:nvPr/>
        </p:nvSpPr>
        <p:spPr>
          <a:xfrm>
            <a:off x="5172075" y="2421229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Planificación articular</a:t>
            </a:r>
            <a:endParaRPr lang="es-ES" sz="950" noProof="0" dirty="0"/>
          </a:p>
        </p:txBody>
      </p:sp>
      <p:sp>
        <p:nvSpPr>
          <p:cNvPr id="47" name="Text 42"/>
          <p:cNvSpPr/>
          <p:nvPr/>
        </p:nvSpPr>
        <p:spPr>
          <a:xfrm>
            <a:off x="5172075" y="2630184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OMPL con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RRTConnect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resuelve movimientos entre configuraciones seguras del brazo dentro del tubo.</a:t>
            </a:r>
            <a:endParaRPr lang="es-ES" sz="750" noProof="0" dirty="0"/>
          </a:p>
        </p:txBody>
      </p:sp>
      <p:sp>
        <p:nvSpPr>
          <p:cNvPr id="48" name="Text 43"/>
          <p:cNvSpPr/>
          <p:nvPr/>
        </p:nvSpPr>
        <p:spPr>
          <a:xfrm>
            <a:off x="4600575" y="3315258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49" name="Text 44"/>
          <p:cNvSpPr/>
          <p:nvPr/>
        </p:nvSpPr>
        <p:spPr>
          <a:xfrm>
            <a:off x="5172075" y="3169537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Trayectorias cartesianas</a:t>
            </a:r>
            <a:endParaRPr lang="es-ES" sz="950" noProof="0" dirty="0"/>
          </a:p>
        </p:txBody>
      </p:sp>
      <p:sp>
        <p:nvSpPr>
          <p:cNvPr id="50" name="Text 45"/>
          <p:cNvSpPr/>
          <p:nvPr/>
        </p:nvSpPr>
        <p:spPr>
          <a:xfrm>
            <a:off x="5172075" y="3378491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Pilz LIN permite movimientos lineales controlados cuando la cámara necesita aproximarse a la pared interior.</a:t>
            </a:r>
            <a:endParaRPr lang="es-ES" sz="750" noProof="0" dirty="0"/>
          </a:p>
        </p:txBody>
      </p:sp>
      <p:sp>
        <p:nvSpPr>
          <p:cNvPr id="51" name="Text 46"/>
          <p:cNvSpPr/>
          <p:nvPr/>
        </p:nvSpPr>
        <p:spPr>
          <a:xfrm>
            <a:off x="4600575" y="4063566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52" name="Text 47"/>
          <p:cNvSpPr/>
          <p:nvPr/>
        </p:nvSpPr>
        <p:spPr>
          <a:xfrm>
            <a:off x="5172075" y="3917845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Ejecución sincronizada</a:t>
            </a:r>
            <a:endParaRPr lang="es-ES" sz="950" noProof="0" dirty="0"/>
          </a:p>
        </p:txBody>
      </p:sp>
      <p:sp>
        <p:nvSpPr>
          <p:cNvPr id="53" name="Text 48"/>
          <p:cNvSpPr/>
          <p:nvPr/>
        </p:nvSpPr>
        <p:spPr>
          <a:xfrm>
            <a:off x="5172075" y="4126799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trayectoria se envía mediante </a:t>
            </a:r>
            <a:r>
              <a:rPr lang="es-ES" sz="7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ros2_control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como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JointTrajectory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desbloquea la siguiente fase de misión.</a:t>
            </a:r>
            <a:endParaRPr lang="es-ES" sz="750" noProof="0" dirty="0"/>
          </a:p>
        </p:txBody>
      </p:sp>
      <p:sp>
        <p:nvSpPr>
          <p:cNvPr id="54" name="Text 49"/>
          <p:cNvSpPr/>
          <p:nvPr/>
        </p:nvSpPr>
        <p:spPr>
          <a:xfrm>
            <a:off x="500063" y="4804172"/>
            <a:ext cx="565963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manipulación convierte la navegación al tubo en una inspección visual completa.</a:t>
            </a:r>
            <a:endParaRPr lang="es-ES" sz="900" noProof="0" dirty="0"/>
          </a:p>
        </p:txBody>
      </p:sp>
      <p:sp>
        <p:nvSpPr>
          <p:cNvPr id="55" name="Text 50"/>
          <p:cNvSpPr/>
          <p:nvPr/>
        </p:nvSpPr>
        <p:spPr>
          <a:xfrm>
            <a:off x="6613327" y="4822031"/>
            <a:ext cx="20306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MOVEIT 2 · UR5E · BARRIDO 360°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PERCEPCIÓN DE DEFECTOS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4293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visión combina robustez clásica y aprendizaje profundo </a:t>
            </a:r>
            <a:r>
              <a:rPr lang="es-ES" sz="1800" b="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entrenable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706128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700" noProof="0" dirty="0"/>
          </a:p>
        </p:txBody>
      </p:sp>
      <p:sp>
        <p:nvSpPr>
          <p:cNvPr id="6" name="Text 3"/>
          <p:cNvSpPr/>
          <p:nvPr/>
        </p:nvSpPr>
        <p:spPr>
          <a:xfrm>
            <a:off x="1042988" y="1611334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Captura desde TCP</a:t>
            </a:r>
            <a:endParaRPr lang="es-ES" sz="900" noProof="0" dirty="0"/>
          </a:p>
        </p:txBody>
      </p:sp>
      <p:sp>
        <p:nvSpPr>
          <p:cNvPr id="7" name="Text 4"/>
          <p:cNvSpPr/>
          <p:nvPr/>
        </p:nvSpPr>
        <p:spPr>
          <a:xfrm>
            <a:off x="1042988" y="1811359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cámara de inspección registra </a:t>
            </a: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durante el barrido interior del UR5e.</a:t>
            </a:r>
            <a:endParaRPr lang="es-ES" sz="75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3" y="176595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063" y="2468724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700" noProof="0" dirty="0"/>
          </a:p>
        </p:txBody>
      </p:sp>
      <p:sp>
        <p:nvSpPr>
          <p:cNvPr id="10" name="Text 6"/>
          <p:cNvSpPr/>
          <p:nvPr/>
        </p:nvSpPr>
        <p:spPr>
          <a:xfrm>
            <a:off x="1042988" y="2373930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Detección dual</a:t>
            </a:r>
            <a:endParaRPr lang="es-ES" sz="900" noProof="0" dirty="0"/>
          </a:p>
        </p:txBody>
      </p:sp>
      <p:sp>
        <p:nvSpPr>
          <p:cNvPr id="11" name="Text 7"/>
          <p:cNvSpPr/>
          <p:nvPr/>
        </p:nvSpPr>
        <p:spPr>
          <a:xfrm>
            <a:off x="1042988" y="2573955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HoughCircles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 por defecto y YOLOv8 queda disponible como </a:t>
            </a: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opcional.</a:t>
            </a:r>
            <a:endParaRPr lang="es-ES" sz="750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3" y="2528553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0063" y="3231319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700" noProof="0" dirty="0"/>
          </a:p>
        </p:txBody>
      </p:sp>
      <p:sp>
        <p:nvSpPr>
          <p:cNvPr id="14" name="Text 9"/>
          <p:cNvSpPr/>
          <p:nvPr/>
        </p:nvSpPr>
        <p:spPr>
          <a:xfrm>
            <a:off x="1042988" y="3136525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Dataset</a:t>
            </a: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sintético</a:t>
            </a:r>
            <a:endParaRPr lang="es-ES" sz="900" noProof="0" dirty="0"/>
          </a:p>
        </p:txBody>
      </p:sp>
      <p:sp>
        <p:nvSpPr>
          <p:cNvPr id="15" name="Text 10"/>
          <p:cNvSpPr/>
          <p:nvPr/>
        </p:nvSpPr>
        <p:spPr>
          <a:xfrm>
            <a:off x="1042988" y="3336550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 genera imágenes controladas de defectos para entrenamiento y validación.</a:t>
            </a:r>
            <a:endParaRPr lang="es-ES" sz="750" noProof="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794" y="3291148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0063" y="3997486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700" noProof="0" dirty="0"/>
          </a:p>
        </p:txBody>
      </p:sp>
      <p:sp>
        <p:nvSpPr>
          <p:cNvPr id="18" name="Text 12"/>
          <p:cNvSpPr/>
          <p:nvPr/>
        </p:nvSpPr>
        <p:spPr>
          <a:xfrm>
            <a:off x="1042988" y="3902692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cilíndrico</a:t>
            </a:r>
            <a:endParaRPr lang="es-ES" sz="900" noProof="0" dirty="0"/>
          </a:p>
        </p:txBody>
      </p:sp>
      <p:sp>
        <p:nvSpPr>
          <p:cNvPr id="19" name="Text 13"/>
          <p:cNvSpPr/>
          <p:nvPr/>
        </p:nvSpPr>
        <p:spPr>
          <a:xfrm>
            <a:off x="1042988" y="4102717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detección se transforma en coordenadas axial y angular de la torre.</a:t>
            </a:r>
            <a:endParaRPr lang="es-ES" sz="750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1931" y="4057315"/>
            <a:ext cx="192881" cy="17145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629150" y="1462348"/>
            <a:ext cx="1943100" cy="1415132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5"/>
          <p:cNvSpPr/>
          <p:nvPr/>
        </p:nvSpPr>
        <p:spPr>
          <a:xfrm>
            <a:off x="4786313" y="1619510"/>
            <a:ext cx="164306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FFFFFF">
                    <a:alpha val="84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POR DEFECTO</a:t>
            </a:r>
            <a:endParaRPr lang="es-ES" sz="600" noProof="0" dirty="0"/>
          </a:p>
        </p:txBody>
      </p:sp>
      <p:sp>
        <p:nvSpPr>
          <p:cNvPr id="23" name="Text 16"/>
          <p:cNvSpPr/>
          <p:nvPr/>
        </p:nvSpPr>
        <p:spPr>
          <a:xfrm>
            <a:off x="4786313" y="1837395"/>
            <a:ext cx="1643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5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HoughCircles</a:t>
            </a:r>
            <a:endParaRPr lang="es-ES" sz="1150" noProof="0" dirty="0"/>
          </a:p>
        </p:txBody>
      </p:sp>
      <p:sp>
        <p:nvSpPr>
          <p:cNvPr id="24" name="Text 17"/>
          <p:cNvSpPr/>
          <p:nvPr/>
        </p:nvSpPr>
        <p:spPr>
          <a:xfrm>
            <a:off x="4786313" y="2123145"/>
            <a:ext cx="1643063" cy="592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 defectos circulares con </a:t>
            </a:r>
            <a:r>
              <a:rPr lang="es-ES" sz="750" noProof="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OpenCV</a:t>
            </a:r>
            <a:r>
              <a:rPr lang="es-ES" sz="750" noProof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ofrece una ruta estable cuando no hay modelo entrenado disponible.</a:t>
            </a:r>
            <a:endParaRPr lang="es-ES" sz="750" noProof="0" dirty="0"/>
          </a:p>
        </p:txBody>
      </p:sp>
      <p:sp>
        <p:nvSpPr>
          <p:cNvPr id="25" name="Text 18"/>
          <p:cNvSpPr/>
          <p:nvPr/>
        </p:nvSpPr>
        <p:spPr>
          <a:xfrm>
            <a:off x="6865144" y="1626654"/>
            <a:ext cx="16287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OPCIONAL</a:t>
            </a:r>
            <a:endParaRPr lang="es-ES" sz="600" noProof="0" dirty="0"/>
          </a:p>
        </p:txBody>
      </p:sp>
      <p:sp>
        <p:nvSpPr>
          <p:cNvPr id="26" name="Text 19"/>
          <p:cNvSpPr/>
          <p:nvPr/>
        </p:nvSpPr>
        <p:spPr>
          <a:xfrm>
            <a:off x="6865144" y="1844539"/>
            <a:ext cx="1628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YOLOv8</a:t>
            </a:r>
            <a:endParaRPr lang="es-ES" sz="1150" noProof="0" dirty="0"/>
          </a:p>
        </p:txBody>
      </p:sp>
      <p:sp>
        <p:nvSpPr>
          <p:cNvPr id="27" name="Text 20"/>
          <p:cNvSpPr/>
          <p:nvPr/>
        </p:nvSpPr>
        <p:spPr>
          <a:xfrm>
            <a:off x="6865144" y="2130289"/>
            <a:ext cx="1628775" cy="74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evolucionar hacia detección aprendida con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sintético y posterior reentrenamiento con datos reales.</a:t>
            </a:r>
            <a:endParaRPr lang="es-ES" sz="750" noProof="0" dirty="0"/>
          </a:p>
        </p:txBody>
      </p:sp>
      <p:sp>
        <p:nvSpPr>
          <p:cNvPr id="28" name="Shape 21"/>
          <p:cNvSpPr/>
          <p:nvPr/>
        </p:nvSpPr>
        <p:spPr>
          <a:xfrm>
            <a:off x="4629150" y="2991110"/>
            <a:ext cx="4014788" cy="13573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2"/>
          <p:cNvSpPr/>
          <p:nvPr/>
        </p:nvSpPr>
        <p:spPr>
          <a:xfrm>
            <a:off x="4629150" y="2991110"/>
            <a:ext cx="4014788" cy="28575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3"/>
          <p:cNvSpPr/>
          <p:nvPr/>
        </p:nvSpPr>
        <p:spPr>
          <a:xfrm>
            <a:off x="4829175" y="3162560"/>
            <a:ext cx="1357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SALIDA ÚTIL PARA INFORME</a:t>
            </a:r>
            <a:endParaRPr lang="es-ES" sz="700" noProof="0" dirty="0"/>
          </a:p>
        </p:txBody>
      </p:sp>
      <p:sp>
        <p:nvSpPr>
          <p:cNvPr id="31" name="Text 24"/>
          <p:cNvSpPr/>
          <p:nvPr/>
        </p:nvSpPr>
        <p:spPr>
          <a:xfrm>
            <a:off x="6386513" y="3162560"/>
            <a:ext cx="2057400" cy="92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1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 detector no se limita a marcar la imagen: proyecta el defecto a la geometría de la torre para agrupar eventos y generar evidencias trazables.</a:t>
            </a:r>
            <a:endParaRPr lang="es-ES" sz="900" noProof="0" dirty="0"/>
          </a:p>
        </p:txBody>
      </p:sp>
      <p:sp>
        <p:nvSpPr>
          <p:cNvPr id="32" name="Text 25"/>
          <p:cNvSpPr/>
          <p:nvPr/>
        </p:nvSpPr>
        <p:spPr>
          <a:xfrm>
            <a:off x="6386513" y="4325736"/>
            <a:ext cx="38933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posición</a:t>
            </a:r>
            <a:endParaRPr lang="es-ES" sz="650" noProof="0" dirty="0"/>
          </a:p>
        </p:txBody>
      </p:sp>
      <p:sp>
        <p:nvSpPr>
          <p:cNvPr id="33" name="Text 26"/>
          <p:cNvSpPr/>
          <p:nvPr/>
        </p:nvSpPr>
        <p:spPr>
          <a:xfrm>
            <a:off x="7295555" y="4303412"/>
            <a:ext cx="696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</a:t>
            </a:r>
            <a:endParaRPr lang="es-ES" sz="900" noProof="0" dirty="0"/>
          </a:p>
        </p:txBody>
      </p:sp>
      <p:sp>
        <p:nvSpPr>
          <p:cNvPr id="34" name="Text 27"/>
          <p:cNvSpPr/>
          <p:nvPr/>
        </p:nvSpPr>
        <p:spPr>
          <a:xfrm>
            <a:off x="7465219" y="4325736"/>
            <a:ext cx="3286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ángulo</a:t>
            </a:r>
            <a:endParaRPr lang="es-ES" sz="650" noProof="0" dirty="0"/>
          </a:p>
        </p:txBody>
      </p:sp>
      <p:sp>
        <p:nvSpPr>
          <p:cNvPr id="35" name="Text 28"/>
          <p:cNvSpPr/>
          <p:nvPr/>
        </p:nvSpPr>
        <p:spPr>
          <a:xfrm>
            <a:off x="8374400" y="4303412"/>
            <a:ext cx="6951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θ</a:t>
            </a:r>
            <a:endParaRPr lang="es-ES" sz="900" noProof="0" dirty="0"/>
          </a:p>
        </p:txBody>
      </p:sp>
      <p:sp>
        <p:nvSpPr>
          <p:cNvPr id="36" name="Text 29"/>
          <p:cNvSpPr/>
          <p:nvPr/>
        </p:nvSpPr>
        <p:spPr>
          <a:xfrm>
            <a:off x="500063" y="4810423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IDEA CLAVE</a:t>
            </a:r>
            <a:endParaRPr lang="es-ES" sz="750" noProof="0" dirty="0"/>
          </a:p>
        </p:txBody>
      </p:sp>
      <p:sp>
        <p:nvSpPr>
          <p:cNvPr id="37" name="Text 30"/>
          <p:cNvSpPr/>
          <p:nvPr/>
        </p:nvSpPr>
        <p:spPr>
          <a:xfrm>
            <a:off x="2228850" y="4693025"/>
            <a:ext cx="6415088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 falta el modelo YOLO, la tubería cae automáticamente a Hough: la misión continúa y conserva trazabilidad de defectos.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MISIÓN, VOZ E INTERACCIÓN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71512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</a:t>
            </a: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Behaviour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Tree convierte una orden de voz en una inspección completa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589150"/>
            <a:ext cx="214027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Flujo del </a:t>
            </a:r>
            <a:r>
              <a:rPr lang="es-ES" sz="10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mission_controller</a:t>
            </a:r>
            <a:endParaRPr lang="es-ES" sz="1050" noProof="0" dirty="0"/>
          </a:p>
        </p:txBody>
      </p:sp>
      <p:sp>
        <p:nvSpPr>
          <p:cNvPr id="6" name="Text 3"/>
          <p:cNvSpPr/>
          <p:nvPr/>
        </p:nvSpPr>
        <p:spPr>
          <a:xfrm>
            <a:off x="3018569" y="1623975"/>
            <a:ext cx="183918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NAV2 · MOVEIT 2 · PERCEPCIÓN</a:t>
            </a:r>
            <a:endParaRPr lang="es-ES" sz="650" noProof="0" dirty="0"/>
          </a:p>
        </p:txBody>
      </p:sp>
      <p:sp>
        <p:nvSpPr>
          <p:cNvPr id="7" name="Shape 4"/>
          <p:cNvSpPr/>
          <p:nvPr/>
        </p:nvSpPr>
        <p:spPr>
          <a:xfrm>
            <a:off x="500063" y="2090998"/>
            <a:ext cx="2100263" cy="614363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Shape 5"/>
          <p:cNvSpPr/>
          <p:nvPr/>
        </p:nvSpPr>
        <p:spPr>
          <a:xfrm>
            <a:off x="614363" y="2241017"/>
            <a:ext cx="314325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7" y="2326742"/>
            <a:ext cx="10715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21387"/>
            <a:ext cx="13430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Orden natural</a:t>
            </a:r>
            <a:endParaRPr lang="es-ES" sz="800" noProof="0" dirty="0"/>
          </a:p>
        </p:txBody>
      </p:sp>
      <p:sp>
        <p:nvSpPr>
          <p:cNvPr id="11" name="Text 7"/>
          <p:cNvSpPr/>
          <p:nvPr/>
        </p:nvSpPr>
        <p:spPr>
          <a:xfrm>
            <a:off x="1143000" y="2296409"/>
            <a:ext cx="1343025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“Inspecciona la torre” dispara la misión desde la capa de interacción.</a:t>
            </a:r>
            <a:endParaRPr lang="es-ES" sz="650" noProof="0" dirty="0"/>
          </a:p>
        </p:txBody>
      </p:sp>
      <p:sp>
        <p:nvSpPr>
          <p:cNvPr id="12" name="Shape 8"/>
          <p:cNvSpPr/>
          <p:nvPr/>
        </p:nvSpPr>
        <p:spPr>
          <a:xfrm>
            <a:off x="2878931" y="224101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656" y="2326742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7569" y="212138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Navegar a gates</a:t>
            </a:r>
            <a:endParaRPr lang="es-ES" sz="800" noProof="0" dirty="0"/>
          </a:p>
        </p:txBody>
      </p:sp>
      <p:sp>
        <p:nvSpPr>
          <p:cNvPr id="15" name="Text 10"/>
          <p:cNvSpPr/>
          <p:nvPr/>
        </p:nvSpPr>
        <p:spPr>
          <a:xfrm>
            <a:off x="3407569" y="229640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Nav2 guía al robot por la nave y valida pasos obligatorios antes del tubo.</a:t>
            </a:r>
            <a:endParaRPr lang="es-ES" sz="650" noProof="0" dirty="0"/>
          </a:p>
        </p:txBody>
      </p:sp>
      <p:sp>
        <p:nvSpPr>
          <p:cNvPr id="16" name="Shape 11"/>
          <p:cNvSpPr/>
          <p:nvPr/>
        </p:nvSpPr>
        <p:spPr>
          <a:xfrm>
            <a:off x="621506" y="298396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02" y="3069692"/>
            <a:ext cx="160734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0144" y="286433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Entrar al tubo</a:t>
            </a:r>
            <a:endParaRPr lang="es-ES" sz="800" noProof="0" dirty="0"/>
          </a:p>
        </p:txBody>
      </p:sp>
      <p:sp>
        <p:nvSpPr>
          <p:cNvPr id="19" name="Text 13"/>
          <p:cNvSpPr/>
          <p:nvPr/>
        </p:nvSpPr>
        <p:spPr>
          <a:xfrm>
            <a:off x="1150144" y="303935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misión cruza la zona de acceso y supera la rampa con control suavizado.</a:t>
            </a:r>
            <a:endParaRPr lang="es-ES" sz="650" noProof="0" dirty="0"/>
          </a:p>
        </p:txBody>
      </p:sp>
      <p:sp>
        <p:nvSpPr>
          <p:cNvPr id="20" name="Shape 14"/>
          <p:cNvSpPr/>
          <p:nvPr/>
        </p:nvSpPr>
        <p:spPr>
          <a:xfrm>
            <a:off x="2878931" y="298396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797" y="3069692"/>
            <a:ext cx="17859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07569" y="286433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Desplegar brazo</a:t>
            </a:r>
            <a:endParaRPr lang="es-ES" sz="800" noProof="0" dirty="0"/>
          </a:p>
        </p:txBody>
      </p:sp>
      <p:sp>
        <p:nvSpPr>
          <p:cNvPr id="23" name="Text 16"/>
          <p:cNvSpPr/>
          <p:nvPr/>
        </p:nvSpPr>
        <p:spPr>
          <a:xfrm>
            <a:off x="3407569" y="303935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 err="1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posiciona el UR5e para iniciar el barrido de inspección.</a:t>
            </a:r>
            <a:endParaRPr lang="es-ES" sz="650" noProof="0" dirty="0"/>
          </a:p>
        </p:txBody>
      </p:sp>
      <p:sp>
        <p:nvSpPr>
          <p:cNvPr id="24" name="Shape 17"/>
          <p:cNvSpPr/>
          <p:nvPr/>
        </p:nvSpPr>
        <p:spPr>
          <a:xfrm>
            <a:off x="621506" y="3766765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31" y="3852490"/>
            <a:ext cx="142875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50144" y="3584042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Detectar defectos</a:t>
            </a:r>
            <a:endParaRPr lang="es-ES" sz="800" noProof="0" dirty="0"/>
          </a:p>
        </p:txBody>
      </p:sp>
      <p:sp>
        <p:nvSpPr>
          <p:cNvPr id="27" name="Text 19"/>
          <p:cNvSpPr/>
          <p:nvPr/>
        </p:nvSpPr>
        <p:spPr>
          <a:xfrm>
            <a:off x="1150144" y="3759064"/>
            <a:ext cx="1328738" cy="504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percepción captura </a:t>
            </a:r>
            <a:r>
              <a:rPr lang="es-ES" sz="650" noProof="0" dirty="0" err="1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detecta marcas y proyecta coordenadas cilíndricas.</a:t>
            </a:r>
            <a:endParaRPr lang="es-ES" sz="650" noProof="0" dirty="0"/>
          </a:p>
        </p:txBody>
      </p:sp>
      <p:sp>
        <p:nvSpPr>
          <p:cNvPr id="28" name="Shape 20"/>
          <p:cNvSpPr/>
          <p:nvPr/>
        </p:nvSpPr>
        <p:spPr>
          <a:xfrm>
            <a:off x="2757488" y="3576898"/>
            <a:ext cx="2100263" cy="694060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1"/>
          <p:cNvSpPr/>
          <p:nvPr/>
        </p:nvSpPr>
        <p:spPr>
          <a:xfrm>
            <a:off x="2871788" y="3766765"/>
            <a:ext cx="314325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5372" y="3852490"/>
            <a:ext cx="107156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00425" y="3647136"/>
            <a:ext cx="13430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Generar informe</a:t>
            </a:r>
            <a:endParaRPr lang="es-ES" sz="800" noProof="0" dirty="0"/>
          </a:p>
        </p:txBody>
      </p:sp>
      <p:sp>
        <p:nvSpPr>
          <p:cNvPr id="32" name="Text 23"/>
          <p:cNvSpPr/>
          <p:nvPr/>
        </p:nvSpPr>
        <p:spPr>
          <a:xfrm>
            <a:off x="3400425" y="3822157"/>
            <a:ext cx="1343025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resultado se transforma en evidencias y resumen técnico en español.</a:t>
            </a:r>
            <a:endParaRPr lang="es-ES" sz="650" noProof="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0663" y="1876685"/>
            <a:ext cx="214313" cy="1714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800725" y="1704259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Voz local + NLU</a:t>
            </a:r>
            <a:endParaRPr lang="es-ES" sz="950" noProof="0" dirty="0"/>
          </a:p>
        </p:txBody>
      </p:sp>
      <p:sp>
        <p:nvSpPr>
          <p:cNvPr id="35" name="Text 25"/>
          <p:cNvSpPr/>
          <p:nvPr/>
        </p:nvSpPr>
        <p:spPr>
          <a:xfrm>
            <a:off x="5800725" y="1920357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faster-whisper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transcribe en local;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Gemini interpretan intención y acción de misión.</a:t>
            </a:r>
            <a:endParaRPr lang="es-ES" sz="700" noProof="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1378" y="2898242"/>
            <a:ext cx="192881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800725" y="2725815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UI web Flask</a:t>
            </a:r>
            <a:endParaRPr lang="es-ES" sz="950" noProof="0" dirty="0"/>
          </a:p>
        </p:txBody>
      </p:sp>
      <p:sp>
        <p:nvSpPr>
          <p:cNvPr id="38" name="Text 27"/>
          <p:cNvSpPr/>
          <p:nvPr/>
        </p:nvSpPr>
        <p:spPr>
          <a:xfrm>
            <a:off x="5800725" y="2941913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localhost:5000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permite controlar y monitorizar estado, batería,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waypoints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gates y progreso.</a:t>
            </a:r>
            <a:endParaRPr lang="es-ES" sz="700" noProof="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1378" y="3919798"/>
            <a:ext cx="192881" cy="1714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800725" y="3747371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Batería y seguridad lógica</a:t>
            </a:r>
            <a:endParaRPr lang="es-ES" sz="950" noProof="0" dirty="0"/>
          </a:p>
        </p:txBody>
      </p:sp>
      <p:sp>
        <p:nvSpPr>
          <p:cNvPr id="41" name="Text 29"/>
          <p:cNvSpPr/>
          <p:nvPr/>
        </p:nvSpPr>
        <p:spPr>
          <a:xfrm>
            <a:off x="5800725" y="3963470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batería se drena al moverse, se recarga en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charging_station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los gates impiden saltos de fase.</a:t>
            </a:r>
            <a:endParaRPr lang="es-ES" sz="750" noProof="0" dirty="0"/>
          </a:p>
        </p:txBody>
      </p:sp>
      <p:sp>
        <p:nvSpPr>
          <p:cNvPr id="42" name="Shape 30"/>
          <p:cNvSpPr/>
          <p:nvPr/>
        </p:nvSpPr>
        <p:spPr>
          <a:xfrm>
            <a:off x="500063" y="4586288"/>
            <a:ext cx="8143875" cy="5572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3" name="Shape 31"/>
          <p:cNvSpPr/>
          <p:nvPr/>
        </p:nvSpPr>
        <p:spPr>
          <a:xfrm>
            <a:off x="500063" y="4586288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4" name="Text 32"/>
          <p:cNvSpPr/>
          <p:nvPr/>
        </p:nvSpPr>
        <p:spPr>
          <a:xfrm>
            <a:off x="714375" y="4799707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IDEA CLAVE</a:t>
            </a:r>
            <a:endParaRPr lang="es-ES" sz="750" noProof="0" dirty="0"/>
          </a:p>
        </p:txBody>
      </p:sp>
      <p:sp>
        <p:nvSpPr>
          <p:cNvPr id="45" name="Text 33"/>
          <p:cNvSpPr/>
          <p:nvPr/>
        </p:nvSpPr>
        <p:spPr>
          <a:xfrm>
            <a:off x="2428875" y="4682310"/>
            <a:ext cx="6000750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El árbol de comportamiento actúa como contrato de misión: ordena subsistemas heterogéneos y solo avanza cuando cada etapa confirma su estado.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INFORME AUTOMÁTICO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55427"/>
            <a:ext cx="6429375" cy="58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s-ES" sz="17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misión termina con evidencias agrupadas y un informe técnico en español</a:t>
            </a:r>
            <a:endParaRPr lang="es-ES" sz="175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206903"/>
            <a:ext cx="6643688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flujo convierte detecciones dispersas en defectos únicos, los ubica sobre el cilindro desplegado y redacta una salida legible para inspección técnica.</a:t>
            </a:r>
            <a:endParaRPr lang="es-ES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642938" y="1822382"/>
            <a:ext cx="64472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Entradas</a:t>
            </a:r>
            <a:endParaRPr lang="es-ES" sz="950" noProof="0" dirty="0"/>
          </a:p>
        </p:txBody>
      </p:sp>
      <p:sp>
        <p:nvSpPr>
          <p:cNvPr id="7" name="Text 4"/>
          <p:cNvSpPr/>
          <p:nvPr/>
        </p:nvSpPr>
        <p:spPr>
          <a:xfrm>
            <a:off x="2102746" y="1853636"/>
            <a:ext cx="39756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MISIÓN</a:t>
            </a:r>
            <a:endParaRPr lang="es-ES" sz="60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20" y="2239398"/>
            <a:ext cx="117872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988" y="2127945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manifest.json</a:t>
            </a:r>
            <a:endParaRPr lang="es-ES" sz="700" noProof="0" dirty="0"/>
          </a:p>
        </p:txBody>
      </p:sp>
      <p:sp>
        <p:nvSpPr>
          <p:cNvPr id="10" name="Text 6"/>
          <p:cNvSpPr/>
          <p:nvPr/>
        </p:nvSpPr>
        <p:spPr>
          <a:xfrm>
            <a:off x="1042988" y="2283321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de misión, capturas y metadatos.</a:t>
            </a:r>
            <a:endParaRPr lang="es-ES" sz="65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782323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2988" y="2670870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detections.ndjson</a:t>
            </a:r>
            <a:endParaRPr lang="es-ES" sz="700" noProof="0" dirty="0"/>
          </a:p>
        </p:txBody>
      </p:sp>
      <p:sp>
        <p:nvSpPr>
          <p:cNvPr id="13" name="Text 8"/>
          <p:cNvSpPr/>
          <p:nvPr/>
        </p:nvSpPr>
        <p:spPr>
          <a:xfrm>
            <a:off x="1042988" y="2826246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con clase, posición y evidencia.</a:t>
            </a:r>
            <a:endParaRPr lang="es-ES" sz="650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52" y="3325248"/>
            <a:ext cx="176808" cy="1571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2988" y="3213795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frames</a:t>
            </a:r>
            <a:endParaRPr lang="es-ES" sz="700" noProof="0" dirty="0"/>
          </a:p>
        </p:txBody>
      </p:sp>
      <p:sp>
        <p:nvSpPr>
          <p:cNvPr id="16" name="Text 10"/>
          <p:cNvSpPr/>
          <p:nvPr/>
        </p:nvSpPr>
        <p:spPr>
          <a:xfrm>
            <a:off x="1042988" y="3369171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Imágenes representativas del barrido.</a:t>
            </a:r>
            <a:endParaRPr lang="es-ES" sz="650" noProof="0" dirty="0"/>
          </a:p>
        </p:txBody>
      </p:sp>
      <p:sp>
        <p:nvSpPr>
          <p:cNvPr id="17" name="Text 11"/>
          <p:cNvSpPr/>
          <p:nvPr/>
        </p:nvSpPr>
        <p:spPr>
          <a:xfrm>
            <a:off x="2971800" y="1822382"/>
            <a:ext cx="173593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Agrupación y mapa</a:t>
            </a:r>
            <a:endParaRPr lang="es-ES" sz="950" noProof="0" dirty="0"/>
          </a:p>
        </p:txBody>
      </p:sp>
      <p:sp>
        <p:nvSpPr>
          <p:cNvPr id="18" name="Text 12"/>
          <p:cNvSpPr/>
          <p:nvPr/>
        </p:nvSpPr>
        <p:spPr>
          <a:xfrm>
            <a:off x="2971800" y="2024193"/>
            <a:ext cx="1735931" cy="384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detecciones próximas se consolidan por cercanía axial y angular.</a:t>
            </a:r>
            <a:endParaRPr lang="es-ES" sz="650" noProof="0" dirty="0"/>
          </a:p>
        </p:txBody>
      </p:sp>
      <p:sp>
        <p:nvSpPr>
          <p:cNvPr id="19" name="Shape 13"/>
          <p:cNvSpPr/>
          <p:nvPr/>
        </p:nvSpPr>
        <p:spPr>
          <a:xfrm>
            <a:off x="4822031" y="1822382"/>
            <a:ext cx="678656" cy="2714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4"/>
          <p:cNvSpPr/>
          <p:nvPr/>
        </p:nvSpPr>
        <p:spPr>
          <a:xfrm>
            <a:off x="4822031" y="1822382"/>
            <a:ext cx="6786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600" b="1" kern="0" spc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Z + Θ</a:t>
            </a:r>
            <a:endParaRPr lang="es-ES" sz="600" noProof="0" dirty="0"/>
          </a:p>
        </p:txBody>
      </p:sp>
      <p:sp>
        <p:nvSpPr>
          <p:cNvPr id="21" name="Shape 15"/>
          <p:cNvSpPr/>
          <p:nvPr/>
        </p:nvSpPr>
        <p:spPr>
          <a:xfrm>
            <a:off x="2971800" y="2508628"/>
            <a:ext cx="2528888" cy="1100138"/>
          </a:xfrm>
          <a:prstGeom prst="rect">
            <a:avLst/>
          </a:prstGeom>
          <a:solidFill>
            <a:srgbClr val="9F1D35">
              <a:alpha val="5000"/>
            </a:srgbClr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6"/>
          <p:cNvSpPr/>
          <p:nvPr/>
        </p:nvSpPr>
        <p:spPr>
          <a:xfrm>
            <a:off x="2971800" y="3665916"/>
            <a:ext cx="9432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0°</a:t>
            </a:r>
            <a:endParaRPr lang="es-ES" sz="550" noProof="0" dirty="0"/>
          </a:p>
        </p:txBody>
      </p:sp>
      <p:sp>
        <p:nvSpPr>
          <p:cNvPr id="23" name="Text 17"/>
          <p:cNvSpPr/>
          <p:nvPr/>
        </p:nvSpPr>
        <p:spPr>
          <a:xfrm>
            <a:off x="3492568" y="3665916"/>
            <a:ext cx="14859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90°</a:t>
            </a:r>
            <a:endParaRPr lang="es-ES" sz="550" noProof="0" dirty="0"/>
          </a:p>
        </p:txBody>
      </p:sp>
      <p:sp>
        <p:nvSpPr>
          <p:cNvPr id="24" name="Text 18"/>
          <p:cNvSpPr/>
          <p:nvPr/>
        </p:nvSpPr>
        <p:spPr>
          <a:xfrm>
            <a:off x="4067612" y="3665916"/>
            <a:ext cx="1850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180°</a:t>
            </a:r>
            <a:endParaRPr lang="es-ES" sz="550" noProof="0" dirty="0"/>
          </a:p>
        </p:txBody>
      </p:sp>
      <p:sp>
        <p:nvSpPr>
          <p:cNvPr id="25" name="Text 19"/>
          <p:cNvSpPr/>
          <p:nvPr/>
        </p:nvSpPr>
        <p:spPr>
          <a:xfrm>
            <a:off x="4679100" y="3665916"/>
            <a:ext cx="1957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270°</a:t>
            </a:r>
            <a:endParaRPr lang="es-ES" sz="550" noProof="0" dirty="0"/>
          </a:p>
        </p:txBody>
      </p:sp>
      <p:sp>
        <p:nvSpPr>
          <p:cNvPr id="26" name="Text 20"/>
          <p:cNvSpPr/>
          <p:nvPr/>
        </p:nvSpPr>
        <p:spPr>
          <a:xfrm>
            <a:off x="5301304" y="3665916"/>
            <a:ext cx="1993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360°</a:t>
            </a:r>
            <a:endParaRPr lang="es-ES" sz="550" noProof="0" dirty="0"/>
          </a:p>
        </p:txBody>
      </p:sp>
      <p:sp>
        <p:nvSpPr>
          <p:cNvPr id="27" name="Text 21"/>
          <p:cNvSpPr/>
          <p:nvPr/>
        </p:nvSpPr>
        <p:spPr>
          <a:xfrm>
            <a:off x="2971800" y="3953452"/>
            <a:ext cx="6572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DEFECTO ÚNICO</a:t>
            </a:r>
            <a:endParaRPr lang="es-ES" sz="650" noProof="0" dirty="0"/>
          </a:p>
        </p:txBody>
      </p:sp>
      <p:sp>
        <p:nvSpPr>
          <p:cNvPr id="28" name="Text 22"/>
          <p:cNvSpPr/>
          <p:nvPr/>
        </p:nvSpPr>
        <p:spPr>
          <a:xfrm>
            <a:off x="3714750" y="3875038"/>
            <a:ext cx="1785938" cy="381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7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Varios </a:t>
            </a:r>
            <a:r>
              <a:rPr lang="es-ES" sz="70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frames</a:t>
            </a:r>
            <a:r>
              <a:rPr lang="es-ES" sz="7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pueden corresponder al mismo daño; el informe evita duplicados.</a:t>
            </a:r>
            <a:endParaRPr lang="es-ES" sz="700" noProof="0" dirty="0"/>
          </a:p>
        </p:txBody>
      </p:sp>
      <p:sp>
        <p:nvSpPr>
          <p:cNvPr id="29" name="Shape 23"/>
          <p:cNvSpPr/>
          <p:nvPr/>
        </p:nvSpPr>
        <p:spPr>
          <a:xfrm>
            <a:off x="5829300" y="1693794"/>
            <a:ext cx="2814638" cy="2800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Shape 24"/>
          <p:cNvSpPr/>
          <p:nvPr/>
        </p:nvSpPr>
        <p:spPr>
          <a:xfrm>
            <a:off x="5829300" y="1693794"/>
            <a:ext cx="2814638" cy="1428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Shape 25"/>
          <p:cNvSpPr/>
          <p:nvPr/>
        </p:nvSpPr>
        <p:spPr>
          <a:xfrm>
            <a:off x="5829300" y="4487001"/>
            <a:ext cx="2814638" cy="714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26"/>
          <p:cNvSpPr/>
          <p:nvPr/>
        </p:nvSpPr>
        <p:spPr>
          <a:xfrm>
            <a:off x="5972175" y="1808094"/>
            <a:ext cx="5143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Salidas</a:t>
            </a:r>
            <a:endParaRPr lang="es-ES" sz="950" noProof="0" dirty="0"/>
          </a:p>
        </p:txBody>
      </p:sp>
      <p:sp>
        <p:nvSpPr>
          <p:cNvPr id="33" name="Text 27"/>
          <p:cNvSpPr/>
          <p:nvPr/>
        </p:nvSpPr>
        <p:spPr>
          <a:xfrm>
            <a:off x="8025640" y="1839348"/>
            <a:ext cx="4754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TÉCNICO</a:t>
            </a:r>
            <a:endParaRPr lang="es-ES" sz="600" noProof="0" dirty="0"/>
          </a:p>
        </p:txBody>
      </p:sp>
      <p:sp>
        <p:nvSpPr>
          <p:cNvPr id="34" name="Shape 28"/>
          <p:cNvSpPr/>
          <p:nvPr/>
        </p:nvSpPr>
        <p:spPr>
          <a:xfrm>
            <a:off x="5972175" y="2167068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2252793"/>
            <a:ext cx="128588" cy="128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357938" y="2170165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Resumen </a:t>
            </a:r>
            <a:r>
              <a:rPr lang="es-ES" sz="8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Markdown</a:t>
            </a:r>
            <a:endParaRPr lang="es-ES" sz="800" noProof="0" dirty="0"/>
          </a:p>
        </p:txBody>
      </p:sp>
      <p:sp>
        <p:nvSpPr>
          <p:cNvPr id="37" name="Text 30"/>
          <p:cNvSpPr/>
          <p:nvPr/>
        </p:nvSpPr>
        <p:spPr>
          <a:xfrm>
            <a:off x="6357938" y="2345187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Conteos por clase y tabla de defectos.</a:t>
            </a:r>
            <a:endParaRPr lang="es-ES" sz="650" noProof="0" dirty="0"/>
          </a:p>
        </p:txBody>
      </p:sp>
      <p:sp>
        <p:nvSpPr>
          <p:cNvPr id="38" name="Shape 31"/>
          <p:cNvSpPr/>
          <p:nvPr/>
        </p:nvSpPr>
        <p:spPr>
          <a:xfrm>
            <a:off x="5972175" y="2742140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9863" y="2827865"/>
            <a:ext cx="144661" cy="128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357938" y="2745237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del cilindro</a:t>
            </a:r>
            <a:endParaRPr lang="es-ES" sz="800" noProof="0" dirty="0"/>
          </a:p>
        </p:txBody>
      </p:sp>
      <p:sp>
        <p:nvSpPr>
          <p:cNvPr id="41" name="Text 33"/>
          <p:cNvSpPr/>
          <p:nvPr/>
        </p:nvSpPr>
        <p:spPr>
          <a:xfrm>
            <a:off x="6357938" y="2920259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desplegado con localización de daños.</a:t>
            </a:r>
            <a:endParaRPr lang="es-ES" sz="650" noProof="0" dirty="0"/>
          </a:p>
        </p:txBody>
      </p:sp>
      <p:sp>
        <p:nvSpPr>
          <p:cNvPr id="42" name="Shape 34"/>
          <p:cNvSpPr/>
          <p:nvPr/>
        </p:nvSpPr>
        <p:spPr>
          <a:xfrm>
            <a:off x="5972175" y="3313640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3973" y="3399365"/>
            <a:ext cx="96441" cy="128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357938" y="3316737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Informe en español</a:t>
            </a:r>
            <a:endParaRPr lang="es-ES" sz="800" noProof="0" dirty="0"/>
          </a:p>
        </p:txBody>
      </p:sp>
      <p:sp>
        <p:nvSpPr>
          <p:cNvPr id="45" name="Text 36"/>
          <p:cNvSpPr/>
          <p:nvPr/>
        </p:nvSpPr>
        <p:spPr>
          <a:xfrm>
            <a:off x="6357938" y="3491759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redactado, evidencias e imágenes.</a:t>
            </a:r>
            <a:endParaRPr lang="es-ES" sz="650" noProof="0" dirty="0"/>
          </a:p>
        </p:txBody>
      </p:sp>
      <p:sp>
        <p:nvSpPr>
          <p:cNvPr id="46" name="Shape 37"/>
          <p:cNvSpPr/>
          <p:nvPr/>
        </p:nvSpPr>
        <p:spPr>
          <a:xfrm>
            <a:off x="5972175" y="3802986"/>
            <a:ext cx="2528888" cy="35718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7" name="Text 38"/>
          <p:cNvSpPr/>
          <p:nvPr/>
        </p:nvSpPr>
        <p:spPr>
          <a:xfrm>
            <a:off x="6072188" y="3916394"/>
            <a:ext cx="5000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Gemini</a:t>
            </a:r>
            <a:endParaRPr lang="es-ES" sz="750" noProof="0" dirty="0"/>
          </a:p>
        </p:txBody>
      </p:sp>
      <p:sp>
        <p:nvSpPr>
          <p:cNvPr id="48" name="Text 39"/>
          <p:cNvSpPr/>
          <p:nvPr/>
        </p:nvSpPr>
        <p:spPr>
          <a:xfrm>
            <a:off x="6572250" y="3866359"/>
            <a:ext cx="1828800" cy="23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Redacción con gemini-2.5-flash si la API está habilitada.</a:t>
            </a:r>
            <a:endParaRPr lang="es-ES" sz="650" noProof="0" dirty="0"/>
          </a:p>
        </p:txBody>
      </p:sp>
      <p:sp>
        <p:nvSpPr>
          <p:cNvPr id="49" name="Text 40"/>
          <p:cNvSpPr/>
          <p:nvPr/>
        </p:nvSpPr>
        <p:spPr>
          <a:xfrm>
            <a:off x="500063" y="4853285"/>
            <a:ext cx="10715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DRY-RUN</a:t>
            </a:r>
            <a:endParaRPr lang="es-ES" sz="750" noProof="0" dirty="0"/>
          </a:p>
        </p:txBody>
      </p:sp>
      <p:sp>
        <p:nvSpPr>
          <p:cNvPr id="50" name="Text 41"/>
          <p:cNvSpPr/>
          <p:nvPr/>
        </p:nvSpPr>
        <p:spPr>
          <a:xfrm>
            <a:off x="1700213" y="4848820"/>
            <a:ext cx="53149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Modo de prueba: resumen y mapa sin llamada externa para validación reproducible.</a:t>
            </a:r>
            <a:endParaRPr lang="es-ES" sz="750" noProof="0" dirty="0"/>
          </a:p>
        </p:txBody>
      </p:sp>
      <p:sp>
        <p:nvSpPr>
          <p:cNvPr id="51" name="Text 42"/>
          <p:cNvSpPr/>
          <p:nvPr/>
        </p:nvSpPr>
        <p:spPr>
          <a:xfrm>
            <a:off x="7272338" y="4813102"/>
            <a:ext cx="13716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6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generate_inspection_report.py</a:t>
            </a:r>
            <a:endParaRPr lang="es-ES" sz="600" noProof="0" dirty="0"/>
          </a:p>
        </p:txBody>
      </p:sp>
      <p:sp>
        <p:nvSpPr>
          <p:cNvPr id="52" name="Text 43"/>
          <p:cNvSpPr/>
          <p:nvPr/>
        </p:nvSpPr>
        <p:spPr>
          <a:xfrm>
            <a:off x="7386638" y="4920258"/>
            <a:ext cx="12573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manifest</a:t>
            </a:r>
            <a:r>
              <a:rPr lang="es-ES" sz="6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detections</a:t>
            </a:r>
            <a:r>
              <a:rPr lang="es-ES" sz="6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endParaRPr lang="es-ES" sz="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 Y TRABAJO FUTURO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643688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proyecto demuestra una cadena robótica completa, de la orden por voz al informe técnico</a:t>
            </a:r>
            <a:endParaRPr lang="es-ES" sz="1800" noProof="0" dirty="0"/>
          </a:p>
        </p:txBody>
      </p:sp>
      <p:sp>
        <p:nvSpPr>
          <p:cNvPr id="5" name="Shape 2"/>
          <p:cNvSpPr/>
          <p:nvPr/>
        </p:nvSpPr>
        <p:spPr>
          <a:xfrm>
            <a:off x="500063" y="1544501"/>
            <a:ext cx="371475" cy="371475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651657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634691"/>
            <a:ext cx="33861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 demostrado</a:t>
            </a:r>
            <a:endParaRPr lang="es-ES" sz="1100" noProof="0" dirty="0"/>
          </a:p>
        </p:txBody>
      </p:sp>
      <p:sp>
        <p:nvSpPr>
          <p:cNvPr id="8" name="Text 4"/>
          <p:cNvSpPr/>
          <p:nvPr/>
        </p:nvSpPr>
        <p:spPr>
          <a:xfrm>
            <a:off x="500063" y="2166900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1000125" y="2120466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Integración </a:t>
            </a:r>
            <a:r>
              <a:rPr lang="es-ES" sz="7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end-to-end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navegación, manipulación, percepción y comportamiento en ROS 2.</a:t>
            </a:r>
            <a:endParaRPr lang="es-ES" sz="750" noProof="0" dirty="0"/>
          </a:p>
        </p:txBody>
      </p:sp>
      <p:sp>
        <p:nvSpPr>
          <p:cNvPr id="10" name="Text 6"/>
          <p:cNvSpPr/>
          <p:nvPr/>
        </p:nvSpPr>
        <p:spPr>
          <a:xfrm>
            <a:off x="500063" y="2743758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1000125" y="269732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Misión autónoma por voz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con transcripción local mediante Whisper e interpretación con Gemini.</a:t>
            </a:r>
            <a:endParaRPr lang="es-ES" sz="750" noProof="0" dirty="0"/>
          </a:p>
        </p:txBody>
      </p:sp>
      <p:sp>
        <p:nvSpPr>
          <p:cNvPr id="12" name="Text 8"/>
          <p:cNvSpPr/>
          <p:nvPr/>
        </p:nvSpPr>
        <p:spPr>
          <a:xfrm>
            <a:off x="500063" y="332061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13" name="Text 9"/>
          <p:cNvSpPr/>
          <p:nvPr/>
        </p:nvSpPr>
        <p:spPr>
          <a:xfrm>
            <a:off x="1000125" y="3274182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Navegación robusta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rampa de 13° y con personas dinámicas incorporadas al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4" name="Text 10"/>
          <p:cNvSpPr/>
          <p:nvPr/>
        </p:nvSpPr>
        <p:spPr>
          <a:xfrm>
            <a:off x="500063" y="390104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15" name="Text 11"/>
          <p:cNvSpPr/>
          <p:nvPr/>
        </p:nvSpPr>
        <p:spPr>
          <a:xfrm>
            <a:off x="1000125" y="385461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Informe automático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agrupación de defectos, mapa cilíndrico y redacción en español.</a:t>
            </a:r>
            <a:endParaRPr lang="es-ES" sz="750" noProof="0" dirty="0"/>
          </a:p>
        </p:txBody>
      </p:sp>
      <p:sp>
        <p:nvSpPr>
          <p:cNvPr id="16" name="Shape 12"/>
          <p:cNvSpPr/>
          <p:nvPr/>
        </p:nvSpPr>
        <p:spPr>
          <a:xfrm>
            <a:off x="4729163" y="1544501"/>
            <a:ext cx="371475" cy="371475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496" y="1651657"/>
            <a:ext cx="176808" cy="1571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1634691"/>
            <a:ext cx="33861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Siguiente evolución</a:t>
            </a:r>
            <a:endParaRPr lang="es-ES" sz="1100" noProof="0" dirty="0"/>
          </a:p>
        </p:txBody>
      </p:sp>
      <p:sp>
        <p:nvSpPr>
          <p:cNvPr id="19" name="Text 14"/>
          <p:cNvSpPr/>
          <p:nvPr/>
        </p:nvSpPr>
        <p:spPr>
          <a:xfrm>
            <a:off x="4729163" y="2166900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20" name="Text 15"/>
          <p:cNvSpPr/>
          <p:nvPr/>
        </p:nvSpPr>
        <p:spPr>
          <a:xfrm>
            <a:off x="5229225" y="2120466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Trasladar el sistema al robot real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validar dinámica, sensores y tolerancias fuera de simulación.</a:t>
            </a:r>
            <a:endParaRPr lang="es-ES" sz="750" noProof="0" dirty="0"/>
          </a:p>
        </p:txBody>
      </p:sp>
      <p:sp>
        <p:nvSpPr>
          <p:cNvPr id="21" name="Text 16"/>
          <p:cNvSpPr/>
          <p:nvPr/>
        </p:nvSpPr>
        <p:spPr>
          <a:xfrm>
            <a:off x="4729163" y="2743758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22" name="Text 17"/>
          <p:cNvSpPr/>
          <p:nvPr/>
        </p:nvSpPr>
        <p:spPr>
          <a:xfrm>
            <a:off x="5229225" y="269732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Mejorar SLAM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closure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entornos más grandes y recorridos prolongados.</a:t>
            </a:r>
            <a:endParaRPr lang="es-ES" sz="750" noProof="0" dirty="0"/>
          </a:p>
        </p:txBody>
      </p:sp>
      <p:sp>
        <p:nvSpPr>
          <p:cNvPr id="23" name="Text 18"/>
          <p:cNvSpPr/>
          <p:nvPr/>
        </p:nvSpPr>
        <p:spPr>
          <a:xfrm>
            <a:off x="4729163" y="332061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24" name="Text 19"/>
          <p:cNvSpPr/>
          <p:nvPr/>
        </p:nvSpPr>
        <p:spPr>
          <a:xfrm>
            <a:off x="5229225" y="3274182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Reentrenar YOLO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 de torres para aumentar generalización de defectos.</a:t>
            </a:r>
            <a:endParaRPr lang="es-ES" sz="750" noProof="0" dirty="0"/>
          </a:p>
        </p:txBody>
      </p:sp>
      <p:sp>
        <p:nvSpPr>
          <p:cNvPr id="25" name="Text 20"/>
          <p:cNvSpPr/>
          <p:nvPr/>
        </p:nvSpPr>
        <p:spPr>
          <a:xfrm>
            <a:off x="4729163" y="390104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26" name="Text 21"/>
          <p:cNvSpPr/>
          <p:nvPr/>
        </p:nvSpPr>
        <p:spPr>
          <a:xfrm>
            <a:off x="5229225" y="385461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Cerrar el lazo de mantenimiento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usando el informe para priorizar inspección y reparación.</a:t>
            </a:r>
            <a:endParaRPr lang="es-ES" sz="750" noProof="0" dirty="0"/>
          </a:p>
        </p:txBody>
      </p:sp>
      <p:sp>
        <p:nvSpPr>
          <p:cNvPr id="27" name="Shape 22"/>
          <p:cNvSpPr/>
          <p:nvPr/>
        </p:nvSpPr>
        <p:spPr>
          <a:xfrm>
            <a:off x="500063" y="4305560"/>
            <a:ext cx="8143875" cy="84296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8" name="Shape 23"/>
          <p:cNvSpPr/>
          <p:nvPr/>
        </p:nvSpPr>
        <p:spPr>
          <a:xfrm>
            <a:off x="500063" y="4305560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Text 24"/>
          <p:cNvSpPr/>
          <p:nvPr/>
        </p:nvSpPr>
        <p:spPr>
          <a:xfrm>
            <a:off x="700088" y="4577023"/>
            <a:ext cx="1143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CADENA DEMOSTRADA</a:t>
            </a:r>
            <a:endParaRPr lang="es-ES" sz="700" noProof="0" dirty="0"/>
          </a:p>
        </p:txBody>
      </p:sp>
      <p:sp>
        <p:nvSpPr>
          <p:cNvPr id="30" name="Shape 25"/>
          <p:cNvSpPr/>
          <p:nvPr/>
        </p:nvSpPr>
        <p:spPr>
          <a:xfrm>
            <a:off x="2043113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Shape 26"/>
          <p:cNvSpPr/>
          <p:nvPr/>
        </p:nvSpPr>
        <p:spPr>
          <a:xfrm>
            <a:off x="2043113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27"/>
          <p:cNvSpPr/>
          <p:nvPr/>
        </p:nvSpPr>
        <p:spPr>
          <a:xfrm>
            <a:off x="2043113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Orden por voz</a:t>
            </a:r>
            <a:endParaRPr lang="es-ES" sz="600" noProof="0" dirty="0"/>
          </a:p>
        </p:txBody>
      </p:sp>
      <p:sp>
        <p:nvSpPr>
          <p:cNvPr id="33" name="Shape 28"/>
          <p:cNvSpPr/>
          <p:nvPr/>
        </p:nvSpPr>
        <p:spPr>
          <a:xfrm>
            <a:off x="2940351" y="4541304"/>
            <a:ext cx="825829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Shape 29"/>
          <p:cNvSpPr/>
          <p:nvPr/>
        </p:nvSpPr>
        <p:spPr>
          <a:xfrm>
            <a:off x="2940351" y="4541304"/>
            <a:ext cx="825829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5" name="Text 30"/>
          <p:cNvSpPr/>
          <p:nvPr/>
        </p:nvSpPr>
        <p:spPr>
          <a:xfrm>
            <a:off x="2940351" y="4541304"/>
            <a:ext cx="825829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Nav2 y gates</a:t>
            </a:r>
            <a:endParaRPr lang="es-ES" sz="600" noProof="0" dirty="0"/>
          </a:p>
        </p:txBody>
      </p:sp>
      <p:sp>
        <p:nvSpPr>
          <p:cNvPr id="36" name="Shape 31"/>
          <p:cNvSpPr/>
          <p:nvPr/>
        </p:nvSpPr>
        <p:spPr>
          <a:xfrm>
            <a:off x="3837617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7" name="Shape 32"/>
          <p:cNvSpPr/>
          <p:nvPr/>
        </p:nvSpPr>
        <p:spPr>
          <a:xfrm>
            <a:off x="3837617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8" name="Text 33"/>
          <p:cNvSpPr/>
          <p:nvPr/>
        </p:nvSpPr>
        <p:spPr>
          <a:xfrm>
            <a:off x="3837617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Barrido UR5e</a:t>
            </a:r>
            <a:endParaRPr lang="es-ES" sz="600" noProof="0" dirty="0"/>
          </a:p>
        </p:txBody>
      </p:sp>
      <p:sp>
        <p:nvSpPr>
          <p:cNvPr id="39" name="Shape 34"/>
          <p:cNvSpPr/>
          <p:nvPr/>
        </p:nvSpPr>
        <p:spPr>
          <a:xfrm>
            <a:off x="4734855" y="4541304"/>
            <a:ext cx="825829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0" name="Shape 35"/>
          <p:cNvSpPr/>
          <p:nvPr/>
        </p:nvSpPr>
        <p:spPr>
          <a:xfrm>
            <a:off x="4734855" y="4541304"/>
            <a:ext cx="825829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1" name="Text 36"/>
          <p:cNvSpPr/>
          <p:nvPr/>
        </p:nvSpPr>
        <p:spPr>
          <a:xfrm>
            <a:off x="4734855" y="4541304"/>
            <a:ext cx="825829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Detección</a:t>
            </a:r>
            <a:endParaRPr lang="es-ES" sz="600" noProof="0" dirty="0"/>
          </a:p>
        </p:txBody>
      </p:sp>
      <p:sp>
        <p:nvSpPr>
          <p:cNvPr id="42" name="Shape 37"/>
          <p:cNvSpPr/>
          <p:nvPr/>
        </p:nvSpPr>
        <p:spPr>
          <a:xfrm>
            <a:off x="5632121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3" name="Shape 38"/>
          <p:cNvSpPr/>
          <p:nvPr/>
        </p:nvSpPr>
        <p:spPr>
          <a:xfrm>
            <a:off x="5632121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4" name="Text 39"/>
          <p:cNvSpPr/>
          <p:nvPr/>
        </p:nvSpPr>
        <p:spPr>
          <a:xfrm>
            <a:off x="5632121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Informe</a:t>
            </a:r>
            <a:endParaRPr lang="es-ES" sz="600" noProof="0" dirty="0"/>
          </a:p>
        </p:txBody>
      </p:sp>
      <p:sp>
        <p:nvSpPr>
          <p:cNvPr id="45" name="Text 40"/>
          <p:cNvSpPr/>
          <p:nvPr/>
        </p:nvSpPr>
        <p:spPr>
          <a:xfrm>
            <a:off x="6657975" y="4500423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750" noProof="0" dirty="0"/>
          </a:p>
        </p:txBody>
      </p:sp>
      <p:sp>
        <p:nvSpPr>
          <p:cNvPr id="46" name="Text 41"/>
          <p:cNvSpPr/>
          <p:nvPr/>
        </p:nvSpPr>
        <p:spPr>
          <a:xfrm>
            <a:off x="7231261" y="4695090"/>
            <a:ext cx="12126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6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s-ES" sz="650" noProof="0" dirty="0"/>
          </a:p>
        </p:txBody>
      </p:sp>
      <p:sp>
        <p:nvSpPr>
          <p:cNvPr id="47" name="Text 42"/>
          <p:cNvSpPr/>
          <p:nvPr/>
        </p:nvSpPr>
        <p:spPr>
          <a:xfrm>
            <a:off x="7024092" y="4829733"/>
            <a:ext cx="14198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ROS2_Wind_Tower_Inspection</a:t>
            </a:r>
            <a:endParaRPr lang="es-ES" sz="6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29188" cy="5143500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1"/>
          <p:cNvSpPr/>
          <p:nvPr/>
        </p:nvSpPr>
        <p:spPr>
          <a:xfrm>
            <a:off x="542925" y="557213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1250" b="1" kern="0" spc="-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UL</a:t>
            </a:r>
            <a:endParaRPr lang="es-ES" sz="1250" noProof="0" dirty="0"/>
          </a:p>
        </p:txBody>
      </p:sp>
      <p:sp>
        <p:nvSpPr>
          <p:cNvPr id="5" name="Text 2"/>
          <p:cNvSpPr/>
          <p:nvPr/>
        </p:nvSpPr>
        <p:spPr>
          <a:xfrm>
            <a:off x="1257300" y="684740"/>
            <a:ext cx="2182081" cy="287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650" b="1" kern="0" spc="1" noProof="0" dirty="0">
                <a:solidFill>
                  <a:srgbClr val="FFFFFF">
                    <a:alpha val="86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UNIVERSIDAD LOYOLA ANDALUCÍA
MÁSTER EN INTELIGENCIA ARTIFICIAL</a:t>
            </a:r>
            <a:endParaRPr lang="es-ES" sz="650" noProof="0" dirty="0"/>
          </a:p>
        </p:txBody>
      </p:sp>
      <p:sp>
        <p:nvSpPr>
          <p:cNvPr id="6" name="Text 3"/>
          <p:cNvSpPr/>
          <p:nvPr/>
        </p:nvSpPr>
        <p:spPr>
          <a:xfrm>
            <a:off x="542925" y="1914525"/>
            <a:ext cx="3929063" cy="574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8400"/>
              </a:lnSpc>
              <a:buNone/>
            </a:pPr>
            <a:r>
              <a:rPr lang="es-ES" sz="4250" b="1" kern="0" spc="-3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¿Preguntas?</a:t>
            </a:r>
            <a:endParaRPr lang="es-ES" sz="4250" noProof="0" dirty="0"/>
          </a:p>
        </p:txBody>
      </p:sp>
      <p:sp>
        <p:nvSpPr>
          <p:cNvPr id="7" name="Text 4"/>
          <p:cNvSpPr/>
          <p:nvPr/>
        </p:nvSpPr>
        <p:spPr>
          <a:xfrm>
            <a:off x="542925" y="2788630"/>
            <a:ext cx="3571875" cy="250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s-ES" sz="1400" noProof="0" dirty="0">
                <a:solidFill>
                  <a:srgbClr val="FFFFFF">
                    <a:alpha val="92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Gracias por vuestra atención.</a:t>
            </a:r>
            <a:endParaRPr lang="es-ES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542925" y="4143961"/>
            <a:ext cx="13573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FFFFFF">
                    <a:alpha val="8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ROBÓTICA INTELIGENTE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3572935" y="4143961"/>
            <a:ext cx="8990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FFFFFF">
                    <a:alpha val="8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TRABAJO FINAL</a:t>
            </a:r>
            <a:endParaRPr lang="es-ES" sz="650" noProof="0" dirty="0"/>
          </a:p>
        </p:txBody>
      </p:sp>
      <p:sp>
        <p:nvSpPr>
          <p:cNvPr id="10" name="Text 7"/>
          <p:cNvSpPr/>
          <p:nvPr/>
        </p:nvSpPr>
        <p:spPr>
          <a:xfrm>
            <a:off x="5414963" y="685800"/>
            <a:ext cx="32289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CIERRE</a:t>
            </a:r>
            <a:endParaRPr lang="es-ES" sz="650" noProof="0" dirty="0"/>
          </a:p>
        </p:txBody>
      </p:sp>
      <p:sp>
        <p:nvSpPr>
          <p:cNvPr id="11" name="Text 8"/>
          <p:cNvSpPr/>
          <p:nvPr/>
        </p:nvSpPr>
        <p:spPr>
          <a:xfrm>
            <a:off x="5414963" y="1012627"/>
            <a:ext cx="2928938" cy="557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s-ES" sz="16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Inspección Autónoma de Torres Eólicas</a:t>
            </a:r>
            <a:endParaRPr lang="es-ES" sz="1600" noProof="0" dirty="0"/>
          </a:p>
        </p:txBody>
      </p:sp>
      <p:sp>
        <p:nvSpPr>
          <p:cNvPr id="12" name="Text 9"/>
          <p:cNvSpPr/>
          <p:nvPr/>
        </p:nvSpPr>
        <p:spPr>
          <a:xfrm>
            <a:off x="5414963" y="1713272"/>
            <a:ext cx="2928938" cy="3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Husky A200 + UR5e + Nav2 + </a:t>
            </a:r>
            <a:r>
              <a:rPr lang="es-ES" sz="9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+ visión + </a:t>
            </a:r>
            <a:r>
              <a:rPr lang="es-ES" sz="9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Behaviour</a:t>
            </a: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Tree + voz.</a:t>
            </a:r>
            <a:endParaRPr lang="es-ES" sz="900" noProof="0" dirty="0"/>
          </a:p>
        </p:txBody>
      </p:sp>
      <p:sp>
        <p:nvSpPr>
          <p:cNvPr id="13" name="Text 10"/>
          <p:cNvSpPr/>
          <p:nvPr/>
        </p:nvSpPr>
        <p:spPr>
          <a:xfrm>
            <a:off x="5414963" y="2511196"/>
            <a:ext cx="3228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REPOSITORIO DEL PROYECTO</a:t>
            </a:r>
            <a:endParaRPr lang="es-ES" sz="700" noProof="0" dirty="0"/>
          </a:p>
        </p:txBody>
      </p:sp>
      <p:sp>
        <p:nvSpPr>
          <p:cNvPr id="14" name="Text 11"/>
          <p:cNvSpPr/>
          <p:nvPr/>
        </p:nvSpPr>
        <p:spPr>
          <a:xfrm>
            <a:off x="5414963" y="2718364"/>
            <a:ext cx="3228975" cy="435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github.com/</a:t>
            </a:r>
            <a:r>
              <a:rPr lang="es-ES" sz="105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davidmoreda</a:t>
            </a: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
ROS2_Wind_Tower_Inspection</a:t>
            </a:r>
            <a:endParaRPr lang="es-ES" sz="1050" noProof="0" dirty="0"/>
          </a:p>
        </p:txBody>
      </p:sp>
      <p:sp>
        <p:nvSpPr>
          <p:cNvPr id="15" name="Text 12"/>
          <p:cNvSpPr/>
          <p:nvPr/>
        </p:nvSpPr>
        <p:spPr>
          <a:xfrm>
            <a:off x="5414963" y="3389151"/>
            <a:ext cx="3228975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Institución</a:t>
            </a:r>
            <a:endParaRPr lang="es-ES" sz="800" noProof="0" dirty="0"/>
          </a:p>
        </p:txBody>
      </p:sp>
      <p:sp>
        <p:nvSpPr>
          <p:cNvPr id="16" name="Text 13"/>
          <p:cNvSpPr/>
          <p:nvPr/>
        </p:nvSpPr>
        <p:spPr>
          <a:xfrm>
            <a:off x="5414963" y="3601315"/>
            <a:ext cx="14716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Universidad Loyola Andalucía</a:t>
            </a:r>
            <a:endParaRPr lang="es-ES" sz="750" noProof="0" dirty="0"/>
          </a:p>
        </p:txBody>
      </p:sp>
      <p:sp>
        <p:nvSpPr>
          <p:cNvPr id="17" name="Text 14"/>
          <p:cNvSpPr/>
          <p:nvPr/>
        </p:nvSpPr>
        <p:spPr>
          <a:xfrm>
            <a:off x="5414963" y="3942764"/>
            <a:ext cx="3228975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Contexto</a:t>
            </a:r>
            <a:endParaRPr lang="es-ES" sz="800" noProof="0" dirty="0"/>
          </a:p>
        </p:txBody>
      </p:sp>
      <p:sp>
        <p:nvSpPr>
          <p:cNvPr id="18" name="Text 15"/>
          <p:cNvSpPr/>
          <p:nvPr/>
        </p:nvSpPr>
        <p:spPr>
          <a:xfrm>
            <a:off x="5414963" y="4154928"/>
            <a:ext cx="27289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Máster en Inteligencia Artificial — Robótica Inteligente</a:t>
            </a:r>
            <a:endParaRPr lang="es-ES" sz="7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1991</Words>
  <Application>Microsoft Office PowerPoint</Application>
  <PresentationFormat>Presentación en pantalla (16:9)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monospace</vt:lpstr>
      <vt:lpstr>Montserrat</vt:lpstr>
      <vt:lpstr>Montserrat Bold</vt:lpstr>
      <vt:lpstr>Montserrat ExtraBold</vt:lpstr>
      <vt:lpstr>Montserrat Medium</vt:lpstr>
      <vt:lpstr>Montserrat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Javier Ceron</cp:lastModifiedBy>
  <cp:revision>2</cp:revision>
  <dcterms:created xsi:type="dcterms:W3CDTF">2026-05-29T20:27:15Z</dcterms:created>
  <dcterms:modified xsi:type="dcterms:W3CDTF">2026-05-29T20:43:00Z</dcterms:modified>
</cp:coreProperties>
</file>